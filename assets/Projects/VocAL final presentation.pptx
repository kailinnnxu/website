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9F_320E572A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7FE4E469_F34F9D5C.xml" ContentType="application/vnd.ms-powerpoint.comments+xml"/>
  <Override PartName="/ppt/notesSlides/notesSlide5.xml" ContentType="application/vnd.openxmlformats-officedocument.presentationml.notesSlide+xml"/>
  <Override PartName="/ppt/comments/modernComment_7FE4E46B_18B96BE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5" r:id="rId4"/>
  </p:sldMasterIdLst>
  <p:notesMasterIdLst>
    <p:notesMasterId r:id="rId19"/>
  </p:notesMasterIdLst>
  <p:sldIdLst>
    <p:sldId id="1963" r:id="rId5"/>
    <p:sldId id="2145707120" r:id="rId6"/>
    <p:sldId id="1951" r:id="rId7"/>
    <p:sldId id="2145707114" r:id="rId8"/>
    <p:sldId id="2145707113" r:id="rId9"/>
    <p:sldId id="2145707115" r:id="rId10"/>
    <p:sldId id="2145707118" r:id="rId11"/>
    <p:sldId id="2145707116" r:id="rId12"/>
    <p:sldId id="2145707125" r:id="rId13"/>
    <p:sldId id="2145707126" r:id="rId14"/>
    <p:sldId id="2145707105" r:id="rId15"/>
    <p:sldId id="2145707122" r:id="rId16"/>
    <p:sldId id="2145707117" r:id="rId17"/>
    <p:sldId id="2145707098" r:id="rId18"/>
  </p:sldIdLst>
  <p:sldSz cx="12192000" cy="6858000"/>
  <p:notesSz cx="6805613" cy="9939338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BE6D6636-5690-482B-8E4B-0EDDD92399A1}">
          <p14:sldIdLst>
            <p14:sldId id="1963"/>
            <p14:sldId id="2145707120"/>
            <p14:sldId id="1951"/>
            <p14:sldId id="2145707114"/>
            <p14:sldId id="2145707113"/>
            <p14:sldId id="2145707115"/>
            <p14:sldId id="2145707118"/>
            <p14:sldId id="2145707116"/>
            <p14:sldId id="2145707125"/>
            <p14:sldId id="2145707126"/>
            <p14:sldId id="2145707105"/>
            <p14:sldId id="2145707122"/>
            <p14:sldId id="2145707117"/>
            <p14:sldId id="214570709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148165-2679-58E4-A49C-469ED8D4FBCC}" name="Xu, Kailin" initials="XK" userId="S::kailinxu@hsph.harvard.edu::2f32f25a-ffa6-4374-87bf-964ddf216364" providerId="AD"/>
  <p188:author id="{211CD88A-5453-8113-BD99-3D66D9C4469B}" name="Young, Fran" initials="YF" userId="S::fran.young@takeda.com::db657dc9-c158-423d-bd4e-675781eb07b0" providerId="AD"/>
  <p188:author id="{AE48BE8B-1639-7034-0F81-2A0CD65F07FD}" name="Wang, Yujie" initials="WY" userId="S::yujiewang@mde.harvard.edu::8aa5bdb3-44f0-4e62-8e45-a3e326d04353" providerId="AD"/>
  <p188:author id="{0F29ECA4-3C25-E22D-6954-B059A61B7A81}" name="Campbell-Hill, Sarah" initials="CHS" userId="S::Sarah.Campbell-Hill@takeda.com::29dac7cd-af10-49cf-a3ae-6902d953cd2a" providerId="AD"/>
  <p188:author id="{6C29BCE2-786D-3ABE-A2B8-7F88E15AFB16}" name="Martin Dalziel" initials="MD" userId="Martin Dalziel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20" clrIdx="0"/>
  <p:cmAuthor id="2" name="Alice Fodder" initials="AF" lastIdx="2" clrIdx="1">
    <p:extLst>
      <p:ext uri="{19B8F6BF-5375-455C-9EA6-DF929625EA0E}">
        <p15:presenceInfo xmlns:p15="http://schemas.microsoft.com/office/powerpoint/2012/main" userId="S::Alice.Fodder@pharmagenesis.com::c431befe-0484-466d-9717-62206d0e210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73F"/>
    <a:srgbClr val="F6C2C2"/>
    <a:srgbClr val="A1A4AC"/>
    <a:srgbClr val="FFFFFF"/>
    <a:srgbClr val="ACB536"/>
    <a:srgbClr val="1A1918"/>
    <a:srgbClr val="BD120A"/>
    <a:srgbClr val="000000"/>
    <a:srgbClr val="450A0A"/>
    <a:srgbClr val="F78C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A3BAF-05B8-B7F7-F884-C6CBCF5031A8}" v="635" dt="2023-07-24T21:11:08.739"/>
    <p1510:client id="{21C90084-89B3-C347-9877-16EBE9DEA3B0}" v="1813" dt="2023-07-24T21:07:31.160"/>
    <p1510:client id="{26411F7C-3981-DC56-A7F2-787E25444722}" v="319" dt="2023-07-24T21:05:38.690"/>
    <p1510:client id="{44B341C0-D2DF-45AC-B635-925C33B259C1}" v="694" dt="2023-07-24T15:41:07.434"/>
    <p1510:client id="{7AA3CBD7-E0F5-FC49-E1A8-7CC7F4EC50BB}" v="3" dt="2023-07-24T20:44:24.410"/>
    <p1510:client id="{A6891588-2601-95E5-58E6-7B54FA30F1B5}" v="126" dt="2023-07-24T20:35:04.330"/>
    <p1510:client id="{B263E76C-399F-980B-0D1C-FB6320AABDBA}" v="26" dt="2023-07-24T20:17:02.268"/>
    <p1510:client id="{B94BE409-781B-9A9B-DF29-33BBF10CAE84}" v="8" dt="2023-07-24T20:36:30.611"/>
    <p1510:client id="{C3F74900-3E51-4D86-B46D-95FE994185FA}" v="311" dt="2023-07-24T14:47:16.104"/>
    <p1510:client id="{CBD685B8-BFD5-ACCE-3C03-D2024E9E2C34}" v="2249" dt="2023-07-24T20:20:13.888"/>
    <p1510:client id="{FA08846E-7A9E-BD4F-45AF-0112775E526D}" v="412" dt="2023-07-24T21:11:48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3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omments/modernComment_7FE4E46B_18B96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80925C-E3B1-C940-BD86-C2F18A2BBFBA}" authorId="{FB148165-2679-58E4-A49C-469ED8D4FBCC}" status="resolved" created="2023-07-24T04:34:37.17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925310" sldId="2145707115"/>
      <ac:graphicFrameMk id="23" creationId="{0E1DC2EF-E0E1-48FF-7D7E-563EC9743FE8}"/>
      <ac:tblMk/>
      <ac:tcMk rowId="10002" colId="20001"/>
      <ac:txMk cp="181">
        <ac:context len="291" hash="1358350611"/>
      </ac:txMk>
    </ac:txMkLst>
    <p188:pos x="5622248" y="1262396"/>
    <p188:txBody>
      <a:bodyPr/>
      <a:lstStyle/>
      <a:p>
        <a:r>
          <a:rPr lang="en-US"/>
          <a:t>Pure guess, feel free to replace with more adjustable data</a:t>
        </a:r>
      </a:p>
    </p188:txBody>
  </p188:cm>
</p188:cmLst>
</file>

<file path=ppt/comments/modernComment_7FE4E469_F34F9D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5D27AE-294F-104F-9BE5-CC14267538AD}" authorId="{FB148165-2679-58E4-A49C-469ED8D4FBCC}" status="resolved" created="2023-07-24T04:35:06.66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82081116" sldId="2145707113"/>
      <ac:spMk id="2" creationId="{9985F90A-C0E0-2A43-61ED-E6AA28249F41}"/>
    </ac:deMkLst>
    <p188:txBody>
      <a:bodyPr/>
      <a:lstStyle/>
      <a:p>
        <a:r>
          <a:rPr lang="en-US"/>
          <a:t>Please refine this part if needed</a:t>
        </a:r>
      </a:p>
    </p188:txBody>
  </p188:cm>
</p188:cmLst>
</file>

<file path=ppt/comments/modernComment_79F_320E572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1459F0-4027-4011-9946-C2D00487F8C4}" authorId="{FB148165-2679-58E4-A49C-469ED8D4FBCC}" created="2023-07-24T20:06:28.0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39800618" sldId="1951"/>
      <ac:spMk id="9" creationId="{E39C8F75-F035-064A-B034-DB9AF30A1C6A}"/>
    </ac:deMkLst>
    <p188:txBody>
      <a:bodyPr/>
      <a:lstStyle/>
      <a:p>
        <a:r>
          <a:rPr lang="en-US"/>
          <a:t>add names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625DEF87-78CF-4C57-A0B1-A9406068048C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5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49E0EA7B-6822-4EC8-8C65-EACC542A1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9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88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7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</a:t>
            </a:r>
            <a:r>
              <a:rPr lang="en-US" err="1"/>
              <a:t>www.nia.nih.gov</a:t>
            </a:r>
            <a:r>
              <a:rPr lang="en-US"/>
              <a:t>/health/how-biomarkers-help-diagnose-dementia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</a:t>
            </a:r>
            <a:r>
              <a:rPr lang="en-US" err="1"/>
              <a:t>www.camh.ca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/professionals/treating-conditions-and-disorders/dementia/dementia---screening-and-assessment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Other tests and </a:t>
            </a:r>
            <a:r>
              <a:rPr lang="en-US" err="1"/>
              <a:t>sclaes</a:t>
            </a:r>
            <a:r>
              <a:rPr lang="en-US"/>
              <a:t>: https://</a:t>
            </a:r>
            <a:r>
              <a:rPr lang="en-US" err="1"/>
              <a:t>www.ncbi.nlm.nih.gov</a:t>
            </a:r>
            <a:r>
              <a:rPr lang="en-US"/>
              <a:t>/</a:t>
            </a:r>
            <a:r>
              <a:rPr lang="en-US" err="1"/>
              <a:t>pmc</a:t>
            </a:r>
            <a:r>
              <a:rPr lang="en-US"/>
              <a:t>/articles/PMC3487532/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latin typeface="Source Sans Pro Web"/>
                <a:cs typeface="Calibri"/>
              </a:rPr>
              <a:t>In-clinic and in-person setting</a:t>
            </a:r>
          </a:p>
          <a:p>
            <a:pPr marL="747395" lvl="1" indent="-285750"/>
            <a:r>
              <a:rPr lang="en-US" sz="1200" b="0">
                <a:solidFill>
                  <a:schemeClr val="tx2"/>
                </a:solidFill>
                <a:latin typeface="Source Sans Pro Web"/>
                <a:cs typeface="Calibri"/>
              </a:rPr>
              <a:t>Visiting primary care doctor is often </a:t>
            </a:r>
            <a:r>
              <a:rPr lang="en-US" sz="1200" b="0">
                <a:solidFill>
                  <a:srgbClr val="000000"/>
                </a:solidFill>
                <a:latin typeface="Source Sans Pro Web"/>
                <a:cs typeface="Calibri"/>
              </a:rPr>
              <a:t>the first step</a:t>
            </a:r>
          </a:p>
          <a:p>
            <a:pPr marL="747395" lvl="1" indent="-285750"/>
            <a:r>
              <a:rPr lang="en-US" sz="1200" b="0">
                <a:solidFill>
                  <a:schemeClr val="tx2"/>
                </a:solidFill>
                <a:latin typeface="Source Sans Pro Web"/>
                <a:cs typeface="Calibri"/>
              </a:rPr>
              <a:t>Neurologists — doctors who specialize a in disorders of the brain and nervous system — are often consulted to diagnose dementia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222222"/>
                </a:solidFill>
                <a:latin typeface="-apple-system"/>
              </a:rPr>
              <a:t>Hampel, H., Au, R., </a:t>
            </a:r>
            <a:r>
              <a:rPr lang="en-US" sz="1200" err="1">
                <a:solidFill>
                  <a:srgbClr val="222222"/>
                </a:solidFill>
                <a:latin typeface="-apple-system"/>
              </a:rPr>
              <a:t>Mattke</a:t>
            </a:r>
            <a:r>
              <a:rPr lang="en-US" sz="1200">
                <a:solidFill>
                  <a:srgbClr val="222222"/>
                </a:solidFill>
                <a:latin typeface="-apple-system"/>
              </a:rPr>
              <a:t>, S. </a:t>
            </a:r>
            <a:r>
              <a:rPr lang="en-US" sz="1200" i="1">
                <a:solidFill>
                  <a:srgbClr val="222222"/>
                </a:solidFill>
                <a:latin typeface="-apple-system"/>
              </a:rPr>
              <a:t>et al.</a:t>
            </a:r>
            <a:r>
              <a:rPr lang="en-US" sz="1200">
                <a:solidFill>
                  <a:srgbClr val="222222"/>
                </a:solidFill>
                <a:latin typeface="-apple-system"/>
              </a:rPr>
              <a:t> Designing the next-generation clinical care pathway for Alzheimer’s disease. </a:t>
            </a:r>
            <a:r>
              <a:rPr lang="en-US" sz="1200" i="1">
                <a:solidFill>
                  <a:srgbClr val="222222"/>
                </a:solidFill>
                <a:latin typeface="-apple-system"/>
              </a:rPr>
              <a:t>Nat Aging</a:t>
            </a:r>
            <a:r>
              <a:rPr lang="en-US" sz="1200">
                <a:solidFill>
                  <a:srgbClr val="222222"/>
                </a:solidFill>
                <a:latin typeface="-apple-system"/>
              </a:rPr>
              <a:t> </a:t>
            </a:r>
            <a:r>
              <a:rPr lang="en-US" sz="1200" b="1">
                <a:solidFill>
                  <a:srgbClr val="222222"/>
                </a:solidFill>
                <a:latin typeface="-apple-system"/>
              </a:rPr>
              <a:t>2</a:t>
            </a:r>
            <a:r>
              <a:rPr lang="en-US" sz="1200">
                <a:solidFill>
                  <a:srgbClr val="222222"/>
                </a:solidFill>
                <a:latin typeface="-apple-system"/>
              </a:rPr>
              <a:t>, 692–703 (2022). https://</a:t>
            </a:r>
            <a:r>
              <a:rPr lang="en-US" sz="1200" err="1">
                <a:solidFill>
                  <a:srgbClr val="222222"/>
                </a:solidFill>
                <a:latin typeface="-apple-system"/>
              </a:rPr>
              <a:t>doi.org</a:t>
            </a:r>
            <a:r>
              <a:rPr lang="en-US" sz="1200">
                <a:solidFill>
                  <a:srgbClr val="222222"/>
                </a:solidFill>
                <a:latin typeface="-apple-system"/>
              </a:rPr>
              <a:t>/10.1038/s43587-022-00269-x​</a:t>
            </a:r>
            <a:endParaRPr lang="en-US" sz="1200">
              <a:cs typeface="Calibri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46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Hampel, H., Au, R., </a:t>
            </a:r>
            <a:r>
              <a:rPr lang="en-US" err="1"/>
              <a:t>Mattke</a:t>
            </a:r>
            <a:r>
              <a:rPr lang="en-US"/>
              <a:t>, S. </a:t>
            </a:r>
            <a:r>
              <a:rPr lang="en-US" i="1"/>
              <a:t>et al.</a:t>
            </a:r>
            <a:r>
              <a:rPr lang="en-US"/>
              <a:t> Designing the next-generation clinical care pathway for Alzheimer’s disease. </a:t>
            </a:r>
            <a:r>
              <a:rPr lang="en-US" i="1"/>
              <a:t>Nat Aging</a:t>
            </a:r>
            <a:r>
              <a:rPr lang="en-US"/>
              <a:t> </a:t>
            </a:r>
            <a:r>
              <a:rPr lang="en-US" b="1"/>
              <a:t>2</a:t>
            </a:r>
            <a:r>
              <a:rPr lang="en-US"/>
              <a:t>, 692–703 (2022). https://</a:t>
            </a:r>
            <a:r>
              <a:rPr lang="en-US" err="1"/>
              <a:t>doi.org</a:t>
            </a:r>
            <a:r>
              <a:rPr lang="en-US"/>
              <a:t>/10.1038/s43587-022-00269-x</a:t>
            </a:r>
          </a:p>
          <a:p>
            <a:endParaRPr lang="en-US"/>
          </a:p>
          <a:p>
            <a:r>
              <a:rPr lang="en-US"/>
              <a:t>Comparison:</a:t>
            </a:r>
          </a:p>
          <a:p>
            <a:r>
              <a:rPr lang="en-US">
                <a:latin typeface="Calibri"/>
                <a:ea typeface="メイリオ"/>
                <a:cs typeface="Calibri"/>
              </a:rPr>
              <a:t>In clinic vs home based</a:t>
            </a:r>
            <a:endParaRPr lang="en-US"/>
          </a:p>
          <a:p>
            <a:r>
              <a:rPr lang="en-US">
                <a:latin typeface="Calibri"/>
                <a:ea typeface="メイリオ"/>
                <a:cs typeface="Calibri"/>
              </a:rPr>
              <a:t>Point assessment vs longitudinal option</a:t>
            </a:r>
          </a:p>
          <a:p>
            <a:r>
              <a:rPr lang="en-US">
                <a:latin typeface="Calibri"/>
                <a:ea typeface="メイリオ"/>
                <a:cs typeface="Calibri"/>
              </a:rPr>
              <a:t>Subjective and Objective</a:t>
            </a:r>
            <a:endParaRPr lang="en-US"/>
          </a:p>
          <a:p>
            <a:r>
              <a:rPr lang="en-US">
                <a:latin typeface="Calibri"/>
                <a:ea typeface="メイリオ"/>
                <a:cs typeface="Calibri"/>
              </a:rPr>
              <a:t>Limited distribution vs Scaled distribution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8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03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88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finding the ground truth can be a challenge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32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finding the ground truth can be a challenge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1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finding the ground truth can be a challenge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06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2126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32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+mn-lt"/>
                <a:ea typeface="メイリオ"/>
                <a:cs typeface="Calibri"/>
              </a:rPr>
              <a:t>Clinical trials can act as an opportunity to further validate technology for other customer segments . </a:t>
            </a:r>
            <a:endParaRPr lang="en-US" sz="1200">
              <a:latin typeface="+mn-lt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0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0EA7B-6822-4EC8-8C65-EACC542A139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  <p:pic>
        <p:nvPicPr>
          <p:cNvPr id="18" name="Picture 17" descr="Takeda">
            <a:extLst>
              <a:ext uri="{FF2B5EF4-FFF2-40B4-BE49-F238E27FC236}">
                <a16:creationId xmlns:a16="http://schemas.microsoft.com/office/drawing/2014/main" id="{5F9376FC-2A9F-C644-AD88-C6E1B65B4D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3362752"/>
            <a:ext cx="2251710" cy="124886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3956816"/>
            <a:ext cx="7699670" cy="1015681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3B8E-5554-A04E-B4C5-97ECEE58B6CC}"/>
              </a:ext>
            </a:extLst>
          </p:cNvPr>
          <p:cNvSpPr/>
          <p:nvPr userDrawn="1"/>
        </p:nvSpPr>
        <p:spPr>
          <a:xfrm>
            <a:off x="749005" y="3764031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37423-F180-3943-B758-C8CCFA816E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4728" y="5256031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4728" y="5515045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4728" y="5769532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728" y="4997510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8" y="6027352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93464281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02F3095-EA6E-F94A-AF04-18ED691DEB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3" y="376180"/>
            <a:ext cx="6326533" cy="6108535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6533" h="6108535">
                <a:moveTo>
                  <a:pt x="0" y="3052819"/>
                </a:moveTo>
                <a:cubicBezTo>
                  <a:pt x="0" y="1366794"/>
                  <a:pt x="1366793" y="1"/>
                  <a:pt x="3052818" y="1"/>
                </a:cubicBezTo>
                <a:lnTo>
                  <a:pt x="6326533" y="0"/>
                </a:lnTo>
                <a:lnTo>
                  <a:pt x="6323635" y="6108535"/>
                </a:lnTo>
                <a:lnTo>
                  <a:pt x="3409714" y="6105637"/>
                </a:lnTo>
                <a:lnTo>
                  <a:pt x="3052818" y="6105637"/>
                </a:lnTo>
                <a:cubicBezTo>
                  <a:pt x="1366793" y="6105637"/>
                  <a:pt x="0" y="4738844"/>
                  <a:pt x="0" y="3052819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407457348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6862150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19C41-2A79-B54D-9C44-C619DA694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794BD-1A0D-7D48-855D-469111926B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-8600"/>
            <a:ext cx="2251710" cy="124886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9909778-A51F-784D-ACA4-EC5DBA48B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9" y="6319955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66101974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85167942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two-column layout. Click to add content. 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Two-column layout. Click to add title</a:t>
            </a:r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634AC-7DDA-D44D-88DB-5850289DD64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E22A984C-7436-8C4C-83C8-F2AD67592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6720AD-4FA4-A146-AEEB-A4E558BAA3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20803740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227913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section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6656F8F-0621-5F47-BF80-4A4E365A2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2541" y="-1"/>
            <a:ext cx="5565823" cy="6416675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158474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782524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0592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1188396" y="3358591"/>
                </a:lnTo>
                <a:cubicBezTo>
                  <a:pt x="848612" y="3356903"/>
                  <a:pt x="0" y="3267167"/>
                  <a:pt x="0" y="2946995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4128149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/>
            </a:lvl1pPr>
          </a:lstStyle>
          <a:p>
            <a:pPr lvl="0"/>
            <a:r>
              <a:rPr lang="en-US"/>
              <a:t>Blank slide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2656947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0DD41-BD6B-7941-8305-67EF42EC2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4486BE7-E24B-D445-B95D-8D976B5C59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6929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F66F056-E301-3942-8399-963B744AD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4625"/>
            <a:ext cx="4114800" cy="19450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15E3CB-F694-EC42-B70E-C728F3F2F93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3247B7AF-EE58-F847-A606-0F6623504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D9C203-575D-DE43-B0D0-0D00DFD467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078" y="6524625"/>
            <a:ext cx="6968348" cy="203989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764950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4" name="タイトル プレースホルダ 1">
            <a:extLst>
              <a:ext uri="{FF2B5EF4-FFF2-40B4-BE49-F238E27FC236}">
                <a16:creationId xmlns:a16="http://schemas.microsoft.com/office/drawing/2014/main" id="{CC986DF6-9894-F144-B9DA-A9DBE0000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6528CE-2840-6C44-965A-04D8835743E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3063228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10743" y="1093767"/>
            <a:ext cx="7988356" cy="5322908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88356" h="5135028">
                <a:moveTo>
                  <a:pt x="0" y="0"/>
                </a:moveTo>
                <a:lnTo>
                  <a:pt x="7988281" y="7569"/>
                </a:lnTo>
                <a:cubicBezTo>
                  <a:pt x="7989186" y="2154376"/>
                  <a:pt x="7981645" y="2988221"/>
                  <a:pt x="7982550" y="5135028"/>
                </a:cubicBezTo>
                <a:lnTo>
                  <a:pt x="596656" y="5124807"/>
                </a:lnTo>
                <a:cubicBezTo>
                  <a:pt x="276484" y="5124807"/>
                  <a:pt x="16934" y="4865257"/>
                  <a:pt x="16934" y="4545085"/>
                </a:cubicBezTo>
                <a:cubicBezTo>
                  <a:pt x="11289" y="3022648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1545CFCD-ABA6-1349-9917-1DDD2762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30F84-B57E-C441-B81C-A0677388FA64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4896547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4"/>
            <a:ext cx="6024384" cy="6863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4384"/>
              <a:gd name="connsiteY0" fmla="*/ 0 h 6857810"/>
              <a:gd name="connsiteX1" fmla="*/ 6015601 w 6024384"/>
              <a:gd name="connsiteY1" fmla="*/ 1730351 h 6857810"/>
              <a:gd name="connsiteX2" fmla="*/ 6024384 w 6024384"/>
              <a:gd name="connsiteY2" fmla="*/ 6857810 h 6857810"/>
              <a:gd name="connsiteX3" fmla="*/ 583404 w 6024384"/>
              <a:gd name="connsiteY3" fmla="*/ 6847589 h 6857810"/>
              <a:gd name="connsiteX4" fmla="*/ 3682 w 6024384"/>
              <a:gd name="connsiteY4" fmla="*/ 6267867 h 6857810"/>
              <a:gd name="connsiteX5" fmla="*/ 0 w 6024384"/>
              <a:gd name="connsiteY5" fmla="*/ 0 h 6857810"/>
              <a:gd name="connsiteX0" fmla="*/ 0 w 6024384"/>
              <a:gd name="connsiteY0" fmla="*/ 5684 h 6863494"/>
              <a:gd name="connsiteX1" fmla="*/ 6002349 w 6024384"/>
              <a:gd name="connsiteY1" fmla="*/ 0 h 6863494"/>
              <a:gd name="connsiteX2" fmla="*/ 6024384 w 6024384"/>
              <a:gd name="connsiteY2" fmla="*/ 6863494 h 6863494"/>
              <a:gd name="connsiteX3" fmla="*/ 583404 w 6024384"/>
              <a:gd name="connsiteY3" fmla="*/ 6853273 h 6863494"/>
              <a:gd name="connsiteX4" fmla="*/ 3682 w 6024384"/>
              <a:gd name="connsiteY4" fmla="*/ 6273551 h 6863494"/>
              <a:gd name="connsiteX5" fmla="*/ 0 w 6024384"/>
              <a:gd name="connsiteY5" fmla="*/ 5684 h 68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4384" h="6863494">
                <a:moveTo>
                  <a:pt x="0" y="5684"/>
                </a:moveTo>
                <a:lnTo>
                  <a:pt x="6002349" y="0"/>
                </a:lnTo>
                <a:cubicBezTo>
                  <a:pt x="6003254" y="2146807"/>
                  <a:pt x="6023479" y="4716687"/>
                  <a:pt x="6024384" y="6863494"/>
                </a:cubicBezTo>
                <a:lnTo>
                  <a:pt x="583404" y="6853273"/>
                </a:lnTo>
                <a:cubicBezTo>
                  <a:pt x="263232" y="6853273"/>
                  <a:pt x="3682" y="6593723"/>
                  <a:pt x="3682" y="6273551"/>
                </a:cubicBezTo>
                <a:cubicBezTo>
                  <a:pt x="-1963" y="4751114"/>
                  <a:pt x="5645" y="1528121"/>
                  <a:pt x="0" y="5684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86D6FEA8-06E4-474A-8491-CD1DDAE7D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5413722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BCF76-3461-2245-8BB1-FA50AE27F6CA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67831086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36961" y="1093767"/>
            <a:ext cx="4069500" cy="5331536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9500" h="5131753">
                <a:moveTo>
                  <a:pt x="0" y="6946"/>
                </a:moveTo>
                <a:lnTo>
                  <a:pt x="4069425" y="0"/>
                </a:lnTo>
                <a:cubicBezTo>
                  <a:pt x="4070330" y="2146807"/>
                  <a:pt x="4062788" y="2966138"/>
                  <a:pt x="4063693" y="5112945"/>
                </a:cubicBezTo>
                <a:lnTo>
                  <a:pt x="596656" y="5131753"/>
                </a:lnTo>
                <a:cubicBezTo>
                  <a:pt x="276484" y="5131753"/>
                  <a:pt x="16934" y="4872203"/>
                  <a:pt x="16934" y="4552031"/>
                </a:cubicBezTo>
                <a:cubicBezTo>
                  <a:pt x="11289" y="3029594"/>
                  <a:pt x="5645" y="1529383"/>
                  <a:pt x="0" y="6946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CCEDFD04-9A53-9241-851E-1D01DC555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B3EBD-E4F5-8E40-B07A-C04F3B1E7F2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55131123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  <a:gd name="connsiteX0" fmla="*/ 0 w 4082753"/>
              <a:gd name="connsiteY0" fmla="*/ 2 h 6874096"/>
              <a:gd name="connsiteX1" fmla="*/ 4082678 w 4082753"/>
              <a:gd name="connsiteY1" fmla="*/ 1742343 h 6874096"/>
              <a:gd name="connsiteX2" fmla="*/ 4076946 w 4082753"/>
              <a:gd name="connsiteY2" fmla="*/ 6855288 h 6874096"/>
              <a:gd name="connsiteX3" fmla="*/ 609909 w 4082753"/>
              <a:gd name="connsiteY3" fmla="*/ 6874096 h 6874096"/>
              <a:gd name="connsiteX4" fmla="*/ 30187 w 4082753"/>
              <a:gd name="connsiteY4" fmla="*/ 6294374 h 6874096"/>
              <a:gd name="connsiteX5" fmla="*/ 0 w 4082753"/>
              <a:gd name="connsiteY5" fmla="*/ 2 h 6874096"/>
              <a:gd name="connsiteX0" fmla="*/ 0 w 4095958"/>
              <a:gd name="connsiteY0" fmla="*/ 6946 h 6881040"/>
              <a:gd name="connsiteX1" fmla="*/ 4095930 w 4095958"/>
              <a:gd name="connsiteY1" fmla="*/ 0 h 6881040"/>
              <a:gd name="connsiteX2" fmla="*/ 4076946 w 4095958"/>
              <a:gd name="connsiteY2" fmla="*/ 6862232 h 6881040"/>
              <a:gd name="connsiteX3" fmla="*/ 609909 w 4095958"/>
              <a:gd name="connsiteY3" fmla="*/ 6881040 h 6881040"/>
              <a:gd name="connsiteX4" fmla="*/ 30187 w 4095958"/>
              <a:gd name="connsiteY4" fmla="*/ 6301318 h 6881040"/>
              <a:gd name="connsiteX5" fmla="*/ 0 w 4095958"/>
              <a:gd name="connsiteY5" fmla="*/ 6946 h 6881040"/>
              <a:gd name="connsiteX0" fmla="*/ 0 w 4076946"/>
              <a:gd name="connsiteY0" fmla="*/ 0 h 6874094"/>
              <a:gd name="connsiteX1" fmla="*/ 3870643 w 4076946"/>
              <a:gd name="connsiteY1" fmla="*/ 191837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0 h 6874094"/>
              <a:gd name="connsiteX1" fmla="*/ 4069426 w 4076946"/>
              <a:gd name="connsiteY1" fmla="*/ 19559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99710 h 6854535"/>
              <a:gd name="connsiteX1" fmla="*/ 4069426 w 4076946"/>
              <a:gd name="connsiteY1" fmla="*/ 0 h 6854535"/>
              <a:gd name="connsiteX2" fmla="*/ 4076946 w 4076946"/>
              <a:gd name="connsiteY2" fmla="*/ 6835727 h 6854535"/>
              <a:gd name="connsiteX3" fmla="*/ 609909 w 4076946"/>
              <a:gd name="connsiteY3" fmla="*/ 6854535 h 6854535"/>
              <a:gd name="connsiteX4" fmla="*/ 30187 w 4076946"/>
              <a:gd name="connsiteY4" fmla="*/ 6274813 h 6854535"/>
              <a:gd name="connsiteX5" fmla="*/ 0 w 4076946"/>
              <a:gd name="connsiteY5" fmla="*/ 99710 h 6854535"/>
              <a:gd name="connsiteX0" fmla="*/ 0 w 4076946"/>
              <a:gd name="connsiteY0" fmla="*/ 0 h 6860842"/>
              <a:gd name="connsiteX1" fmla="*/ 4069426 w 4076946"/>
              <a:gd name="connsiteY1" fmla="*/ 6307 h 6860842"/>
              <a:gd name="connsiteX2" fmla="*/ 4076946 w 4076946"/>
              <a:gd name="connsiteY2" fmla="*/ 6842034 h 6860842"/>
              <a:gd name="connsiteX3" fmla="*/ 609909 w 4076946"/>
              <a:gd name="connsiteY3" fmla="*/ 6860842 h 6860842"/>
              <a:gd name="connsiteX4" fmla="*/ 30187 w 4076946"/>
              <a:gd name="connsiteY4" fmla="*/ 6281120 h 6860842"/>
              <a:gd name="connsiteX5" fmla="*/ 0 w 4076946"/>
              <a:gd name="connsiteY5" fmla="*/ 0 h 686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946" h="6860842">
                <a:moveTo>
                  <a:pt x="0" y="0"/>
                </a:moveTo>
                <a:lnTo>
                  <a:pt x="4069426" y="6307"/>
                </a:lnTo>
                <a:cubicBezTo>
                  <a:pt x="4070331" y="2153114"/>
                  <a:pt x="4076041" y="4695227"/>
                  <a:pt x="4076946" y="6842034"/>
                </a:cubicBezTo>
                <a:lnTo>
                  <a:pt x="609909" y="6860842"/>
                </a:lnTo>
                <a:cubicBezTo>
                  <a:pt x="289737" y="6860842"/>
                  <a:pt x="30187" y="6601292"/>
                  <a:pt x="30187" y="6281120"/>
                </a:cubicBezTo>
                <a:cubicBezTo>
                  <a:pt x="24542" y="4758683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6FB24DD6-99CB-CE43-A787-C9F60DC95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7368878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30E5B-E573-584B-8C83-F8409492B14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890663235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21DF8897-54F9-C24F-8261-0C5418827A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0737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JP"/>
              <a:t>Insert Picture/Text Block</a:t>
            </a:r>
          </a:p>
          <a:p>
            <a:endParaRPr lang="en-JP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AA8F528A-C9DE-0B46-881A-43E0F9B6F67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44494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01CF285-75D7-154A-ACF2-9393FB0B38D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77615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Picture/Text Block</a:t>
            </a:r>
          </a:p>
          <a:p>
            <a:endParaRPr lang="en-US"/>
          </a:p>
          <a:p>
            <a:endParaRPr lang="en-JP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47FD433F-488A-9D46-BDF0-87D0F082AE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8" name="タイトル プレースホルダ 1">
            <a:extLst>
              <a:ext uri="{FF2B5EF4-FFF2-40B4-BE49-F238E27FC236}">
                <a16:creationId xmlns:a16="http://schemas.microsoft.com/office/drawing/2014/main" id="{4FBB8310-69E6-7C4E-A4B1-C022B6FEE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EF9AE6-D84E-9F43-9506-6676EC51B210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804114049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75E45CD2-2EBD-AE47-837E-9F752C565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6966D-3DF0-4D41-9D26-4860D147F80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354790208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3" name="タイトル プレースホルダ 1">
            <a:extLst>
              <a:ext uri="{FF2B5EF4-FFF2-40B4-BE49-F238E27FC236}">
                <a16:creationId xmlns:a16="http://schemas.microsoft.com/office/drawing/2014/main" id="{2256F400-EDA8-7F44-BF13-278518497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2B0AC-7801-6C42-BA03-0669DC118159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294194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906CE02B-33D8-B048-A73D-781A3402C2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9FB0B-7616-F04F-9B4C-586869A82E9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16156136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4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8D9BD23C-1777-C442-B4B0-BADF450483EA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4217095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id="{2D7D413C-2FF1-204A-83C6-B7426603B7C2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8123041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2FFB1535-D35E-D242-B225-DDF1C53BB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47DB5E3C-7053-3645-A234-760F5ED1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C8CB7-67E9-8A46-B53F-F34ACE18BE8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5EB1023E-4E73-AD49-83B0-D7B45825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4942DB0C-137A-4E4C-B926-77CEECC512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D1171B1-AEC6-164D-8FE0-E0B9353A55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6C4AA1F-8B09-5544-9C70-388A6E2940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7829290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8354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0" r:id="rId2"/>
    <p:sldLayoutId id="2147483989" r:id="rId3"/>
    <p:sldLayoutId id="2147483986" r:id="rId4"/>
    <p:sldLayoutId id="2147483987" r:id="rId5"/>
    <p:sldLayoutId id="2147483961" r:id="rId6"/>
    <p:sldLayoutId id="2147483988" r:id="rId7"/>
    <p:sldLayoutId id="2147483966" r:id="rId8"/>
    <p:sldLayoutId id="2147483920" r:id="rId9"/>
    <p:sldLayoutId id="2147483922" r:id="rId10"/>
    <p:sldLayoutId id="2147483930" r:id="rId11"/>
    <p:sldLayoutId id="2147483924" r:id="rId12"/>
    <p:sldLayoutId id="2147483931" r:id="rId13"/>
    <p:sldLayoutId id="2147483925" r:id="rId14"/>
    <p:sldLayoutId id="2147483926" r:id="rId15"/>
    <p:sldLayoutId id="2147483927" r:id="rId16"/>
    <p:sldLayoutId id="2147483928" r:id="rId17"/>
    <p:sldLayoutId id="2147483929" r:id="rId18"/>
  </p:sldLayoutIdLst>
  <p:transition spd="slow">
    <p:push dir="u"/>
  </p:transition>
  <p:hf hdr="0" ft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9F_320E572A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E4E469_F34F9D5C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E4E46B_18B96BE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close-up of a person&amp;#39;s nose&#10;&#10;Description automatically generated">
            <a:extLst>
              <a:ext uri="{FF2B5EF4-FFF2-40B4-BE49-F238E27FC236}">
                <a16:creationId xmlns:a16="http://schemas.microsoft.com/office/drawing/2014/main" id="{2D7C4B66-1245-7EB1-4789-D021950D08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34" r="20350" b="-239"/>
          <a:stretch/>
        </p:blipFill>
        <p:spPr>
          <a:xfrm>
            <a:off x="-2593" y="0"/>
            <a:ext cx="12194593" cy="687999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021156-F368-D547-AC64-C8467A339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612" y="3983200"/>
            <a:ext cx="8257722" cy="2299792"/>
          </a:xfrm>
          <a:prstGeom prst="rect">
            <a:avLst/>
          </a:prstGeom>
          <a:solidFill>
            <a:schemeClr val="bg1">
              <a:alpha val="10674"/>
            </a:schemeClr>
          </a:solidFill>
        </p:spPr>
        <p:txBody>
          <a:bodyPr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GB" sz="6600" err="1">
                <a:solidFill>
                  <a:schemeClr val="bg1"/>
                </a:solidFill>
                <a:latin typeface="Arial"/>
                <a:ea typeface="+mn-ea"/>
                <a:cs typeface="Arial"/>
              </a:rPr>
              <a:t>VocAL</a:t>
            </a:r>
            <a:br>
              <a:rPr lang="en-GB" sz="4000"/>
            </a:br>
            <a:r>
              <a:rPr lang="en-GB" sz="2800" b="0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Voice Biomarker for AD Progression Assessment </a:t>
            </a:r>
            <a:br>
              <a:rPr lang="en-GB" sz="4000"/>
            </a:br>
            <a:r>
              <a:rPr lang="en-GB" sz="1500" b="0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MIT Sandbox| </a:t>
            </a:r>
            <a:r>
              <a:rPr lang="en-GB" sz="1500" b="0" err="1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Dhive</a:t>
            </a:r>
            <a:r>
              <a:rPr lang="en-GB" sz="1500" b="0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_ 2023 Summer</a:t>
            </a:r>
            <a:endParaRPr lang="en-JP" sz="1800" b="0">
              <a:solidFill>
                <a:schemeClr val="bg1"/>
              </a:solidFill>
              <a:latin typeface="Calibri"/>
              <a:ea typeface="メイリオ"/>
              <a:cs typeface="Calibri"/>
            </a:endParaRPr>
          </a:p>
        </p:txBody>
      </p:sp>
      <p:pic>
        <p:nvPicPr>
          <p:cNvPr id="1028" name="Picture 4" descr="MIT DHIVE Program — MIT Sandbox">
            <a:extLst>
              <a:ext uri="{FF2B5EF4-FFF2-40B4-BE49-F238E27FC236}">
                <a16:creationId xmlns:a16="http://schemas.microsoft.com/office/drawing/2014/main" id="{F9D4FA4E-9E87-F446-AF5B-AC8E2A230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680" y="496458"/>
            <a:ext cx="1274688" cy="70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T Sandbox">
            <a:extLst>
              <a:ext uri="{FF2B5EF4-FFF2-40B4-BE49-F238E27FC236}">
                <a16:creationId xmlns:a16="http://schemas.microsoft.com/office/drawing/2014/main" id="{D8A0F895-3407-AF68-5F4B-5D33863B3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312" y="377617"/>
            <a:ext cx="1362633" cy="82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E6CC838-BEA1-5D5E-B1BD-21A777585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440" y="586105"/>
            <a:ext cx="1541183" cy="51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BC54D8-6164-4106-C21E-EF387836EA48}"/>
              </a:ext>
            </a:extLst>
          </p:cNvPr>
          <p:cNvSpPr txBox="1"/>
          <p:nvPr/>
        </p:nvSpPr>
        <p:spPr>
          <a:xfrm>
            <a:off x="4724400" y="320040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6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693C93-A266-784F-3E9A-E064D66F66C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194729" y="2053406"/>
            <a:ext cx="6977110" cy="3693892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Team 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Alzheimer's Disease (AD) diagnosis process</a:t>
            </a:r>
          </a:p>
          <a:p>
            <a:pPr marL="342900" indent="-342900"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</a:rPr>
              <a:t>Proposed solution 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Customer segmentation hypothesis 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Key learnings from top 3 interviews 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Problem and unmet need 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Key customer segment identification 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メイリオ"/>
                <a:cs typeface="Calibri"/>
              </a:rPr>
              <a:t>Personal lessons </a:t>
            </a:r>
            <a:endParaRPr lang="en-US" sz="2000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E6571F6-0A83-2C36-1301-771DDB595AC1}"/>
              </a:ext>
            </a:extLst>
          </p:cNvPr>
          <p:cNvSpPr txBox="1">
            <a:spLocks/>
          </p:cNvSpPr>
          <p:nvPr/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150" rtl="0" eaLnBrk="1" latinLnBrk="0" hangingPunct="1">
              <a:lnSpc>
                <a:spcPts val="3800"/>
              </a:lnSpc>
              <a:spcBef>
                <a:spcPct val="0"/>
              </a:spcBef>
              <a:buNone/>
              <a:defRPr kumimoji="1" sz="36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>
                <a:solidFill>
                  <a:srgbClr val="34373F"/>
                </a:solidFill>
                <a:latin typeface="Calibri"/>
                <a:ea typeface="メイリオ"/>
                <a:cs typeface="Calibri"/>
              </a:rPr>
              <a:t>Index</a:t>
            </a:r>
            <a:endParaRPr lang="en-GB" dirty="0">
              <a:solidFill>
                <a:srgbClr val="FF0000"/>
              </a:solidFill>
              <a:latin typeface="Calibri"/>
              <a:ea typeface="メイリオ"/>
              <a:cs typeface="Calibri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C7EC7C9-3AD0-FC02-2712-45326A43206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27839" y="401865"/>
            <a:ext cx="6326533" cy="6108535"/>
          </a:xfrm>
        </p:spPr>
      </p:sp>
    </p:spTree>
    <p:extLst>
      <p:ext uri="{BB962C8B-B14F-4D97-AF65-F5344CB8AC3E}">
        <p14:creationId xmlns:p14="http://schemas.microsoft.com/office/powerpoint/2010/main" val="37820102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39C8F75-F035-064A-B034-DB9AF30A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Team</a:t>
            </a:r>
            <a:endParaRPr lang="en-JP"/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75EACD58-0482-9C47-9E17-9B99DAF76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589856" cy="196131"/>
          </a:xfrm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10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z="800" dirty="0" smtClean="0"/>
              <a:pPr defTabSz="1218810"/>
              <a:t>3</a:t>
            </a:fld>
            <a:endParaRPr lang="ja-JP" altLang="en-US" sz="800" dirty="0"/>
          </a:p>
        </p:txBody>
      </p:sp>
      <p:pic>
        <p:nvPicPr>
          <p:cNvPr id="3" name="Picture 14">
            <a:extLst>
              <a:ext uri="{FF2B5EF4-FFF2-40B4-BE49-F238E27FC236}">
                <a16:creationId xmlns:a16="http://schemas.microsoft.com/office/drawing/2014/main" id="{88D1D95B-C3AE-0B8E-F35B-3274C3C217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501"/>
          <a:stretch/>
        </p:blipFill>
        <p:spPr bwMode="auto">
          <a:xfrm>
            <a:off x="8568463" y="847406"/>
            <a:ext cx="2204639" cy="248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9565FEB3-C5F2-EA15-CF6A-1C3C4B209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 r="5792"/>
          <a:stretch/>
        </p:blipFill>
        <p:spPr bwMode="auto">
          <a:xfrm>
            <a:off x="1396608" y="847413"/>
            <a:ext cx="2204639" cy="248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65370864-CC9B-62F1-2282-ADBE9871A0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7" t="24581" r="20000" b="22346"/>
          <a:stretch/>
        </p:blipFill>
        <p:spPr bwMode="auto">
          <a:xfrm>
            <a:off x="6177758" y="847407"/>
            <a:ext cx="2207490" cy="247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FEFF8A85-4453-419F-15DD-1B715161E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7" t="13907" r="12460" b="662"/>
          <a:stretch/>
        </p:blipFill>
        <p:spPr bwMode="auto">
          <a:xfrm>
            <a:off x="3797577" y="847407"/>
            <a:ext cx="2195022" cy="247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1485DF7F-C98D-843B-FD8E-D40592B3B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816029"/>
              </p:ext>
            </p:extLst>
          </p:nvPr>
        </p:nvGraphicFramePr>
        <p:xfrm>
          <a:off x="841149" y="3975343"/>
          <a:ext cx="10673218" cy="254765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91319">
                  <a:extLst>
                    <a:ext uri="{9D8B030D-6E8A-4147-A177-3AD203B41FA5}">
                      <a16:colId xmlns:a16="http://schemas.microsoft.com/office/drawing/2014/main" val="1513464473"/>
                    </a:ext>
                  </a:extLst>
                </a:gridCol>
                <a:gridCol w="7163474">
                  <a:extLst>
                    <a:ext uri="{9D8B030D-6E8A-4147-A177-3AD203B41FA5}">
                      <a16:colId xmlns:a16="http://schemas.microsoft.com/office/drawing/2014/main" val="4052217948"/>
                    </a:ext>
                  </a:extLst>
                </a:gridCol>
                <a:gridCol w="918425">
                  <a:extLst>
                    <a:ext uri="{9D8B030D-6E8A-4147-A177-3AD203B41FA5}">
                      <a16:colId xmlns:a16="http://schemas.microsoft.com/office/drawing/2014/main" val="2350054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Customer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540141"/>
                  </a:ext>
                </a:extLst>
              </a:tr>
              <a:tr h="485178">
                <a:tc>
                  <a:txBody>
                    <a:bodyPr/>
                    <a:lstStyle/>
                    <a:p>
                      <a:r>
                        <a:rPr lang="en-US" sz="1600"/>
                        <a:t>Family caregiver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Family members having experience taking care of their AD loved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32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Doctor/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Psychiatrist or neurology with clinical experience seeing AD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501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Interviewees with experience developing tools for AD or working in, with, or sell to pharmaceutical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6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JD, data security,  </a:t>
                      </a:r>
                      <a:r>
                        <a:rPr lang="en-US" sz="1600" err="1"/>
                        <a:t>Agetech</a:t>
                      </a:r>
                      <a:r>
                        <a:rPr lang="en-US" sz="1600"/>
                        <a:t> 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7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394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04288A-5066-7237-B3D9-3B144BA6855B}"/>
              </a:ext>
            </a:extLst>
          </p:cNvPr>
          <p:cNvSpPr txBox="1"/>
          <p:nvPr/>
        </p:nvSpPr>
        <p:spPr>
          <a:xfrm>
            <a:off x="4724400" y="2833134"/>
            <a:ext cx="2743199" cy="457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C7DC7-4799-ECED-7D3C-FA527926B5EA}"/>
              </a:ext>
            </a:extLst>
          </p:cNvPr>
          <p:cNvSpPr txBox="1"/>
          <p:nvPr/>
        </p:nvSpPr>
        <p:spPr>
          <a:xfrm>
            <a:off x="4550018" y="3346650"/>
            <a:ext cx="1649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Kailin Xu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1F139-33B7-92EA-AA35-0CF3CB5E9B6F}"/>
              </a:ext>
            </a:extLst>
          </p:cNvPr>
          <p:cNvSpPr txBox="1"/>
          <p:nvPr/>
        </p:nvSpPr>
        <p:spPr>
          <a:xfrm>
            <a:off x="-575679" y="3317511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err="1">
                <a:solidFill>
                  <a:srgbClr val="000000"/>
                </a:solidFill>
                <a:effectLst/>
              </a:rPr>
              <a:t>Yujie</a:t>
            </a:r>
            <a:r>
              <a:rPr lang="en-US" sz="1800" b="0" i="0" u="none" strike="noStrike">
                <a:solidFill>
                  <a:srgbClr val="000000"/>
                </a:solidFill>
                <a:effectLst/>
              </a:rPr>
              <a:t> Wang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62BEF-5879-3A17-39CE-BD4EF28B1FF3}"/>
              </a:ext>
            </a:extLst>
          </p:cNvPr>
          <p:cNvSpPr txBox="1"/>
          <p:nvPr/>
        </p:nvSpPr>
        <p:spPr>
          <a:xfrm>
            <a:off x="8997176" y="3325167"/>
            <a:ext cx="6389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Carter Frame 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0C7E7-21EB-A565-6DD4-95AE040F755C}"/>
              </a:ext>
            </a:extLst>
          </p:cNvPr>
          <p:cNvSpPr txBox="1"/>
          <p:nvPr/>
        </p:nvSpPr>
        <p:spPr>
          <a:xfrm>
            <a:off x="4550018" y="3344689"/>
            <a:ext cx="56191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</a:rPr>
              <a:t>Arcita </a:t>
            </a:r>
            <a:r>
              <a:rPr lang="en-US" sz="1800" b="0" i="0" u="none" strike="noStrike" err="1">
                <a:solidFill>
                  <a:srgbClr val="000000"/>
                </a:solidFill>
                <a:effectLst/>
              </a:rPr>
              <a:t>Pramudita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0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91AEF6-A8EA-6D88-BB6E-4694B772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45" y="119272"/>
            <a:ext cx="9940253" cy="68580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alibri"/>
                <a:ea typeface="メイリオ"/>
                <a:cs typeface="Calibri"/>
              </a:rPr>
              <a:t>Current process of screening, diagnosis, and progression monitoring 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E2BFB65-CEF7-BF44-3915-AA2E3D2F0013}"/>
              </a:ext>
            </a:extLst>
          </p:cNvPr>
          <p:cNvSpPr txBox="1">
            <a:spLocks/>
          </p:cNvSpPr>
          <p:nvPr/>
        </p:nvSpPr>
        <p:spPr>
          <a:xfrm>
            <a:off x="3015752" y="3118733"/>
            <a:ext cx="5914098" cy="327835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/>
          <a:lstStyle>
            <a:lvl1pPr marL="0" indent="0" algn="l" defTabSz="457189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Font typeface="Arial"/>
              <a:buNone/>
              <a:defRPr sz="16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61963" indent="-223838" algn="l" defTabSz="457189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/>
              <a:defRPr sz="16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7575" indent="-231775" algn="l" defTabSz="457189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Font typeface="System Font Regular"/>
              <a:buChar char="–"/>
              <a:tabLst/>
              <a:defRPr sz="16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3188" indent="-223838" algn="l" defTabSz="457189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/>
              <a:defRPr sz="16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-254000" algn="l" defTabSz="457189" rtl="0" eaLnBrk="1" latinLnBrk="0" hangingPunct="1">
              <a:spcBef>
                <a:spcPct val="20000"/>
              </a:spcBef>
              <a:buClr>
                <a:schemeClr val="bg1">
                  <a:lumMod val="50000"/>
                </a:schemeClr>
              </a:buClr>
              <a:buFont typeface="System Font Regular"/>
              <a:buChar char="–"/>
              <a:tabLst/>
              <a:defRPr sz="16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200">
                <a:latin typeface="+mj-lt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6924B1-DFDC-3E87-7B23-587AA74FDC90}"/>
              </a:ext>
            </a:extLst>
          </p:cNvPr>
          <p:cNvSpPr/>
          <p:nvPr/>
        </p:nvSpPr>
        <p:spPr>
          <a:xfrm>
            <a:off x="3138310" y="4172190"/>
            <a:ext cx="5626045" cy="1196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3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D6A2DA-98CF-E178-8DDD-1200E25A8E1A}"/>
              </a:ext>
            </a:extLst>
          </p:cNvPr>
          <p:cNvSpPr/>
          <p:nvPr/>
        </p:nvSpPr>
        <p:spPr>
          <a:xfrm>
            <a:off x="3138310" y="3252751"/>
            <a:ext cx="5626045" cy="8316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3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B87DF-135E-F6B8-CC2C-34139E77D929}"/>
              </a:ext>
            </a:extLst>
          </p:cNvPr>
          <p:cNvSpPr txBox="1"/>
          <p:nvPr/>
        </p:nvSpPr>
        <p:spPr>
          <a:xfrm rot="16200000">
            <a:off x="2955317" y="3398969"/>
            <a:ext cx="831629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13" b="1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Brain imaging</a:t>
            </a:r>
          </a:p>
        </p:txBody>
      </p:sp>
      <p:sp>
        <p:nvSpPr>
          <p:cNvPr id="19" name="Rectangle: Rounded Corners 31">
            <a:extLst>
              <a:ext uri="{FF2B5EF4-FFF2-40B4-BE49-F238E27FC236}">
                <a16:creationId xmlns:a16="http://schemas.microsoft.com/office/drawing/2014/main" id="{4E774335-B3D3-C8BD-2AB7-522B4070F69F}"/>
              </a:ext>
            </a:extLst>
          </p:cNvPr>
          <p:cNvSpPr/>
          <p:nvPr/>
        </p:nvSpPr>
        <p:spPr>
          <a:xfrm>
            <a:off x="3792972" y="3483136"/>
            <a:ext cx="1104563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>
                <a:solidFill>
                  <a:srgbClr val="3D4551"/>
                </a:solidFill>
                <a:latin typeface="Source Sans Pro Web"/>
              </a:rPr>
              <a:t>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6CD07E-87C9-ADB8-9DE9-16BA5E7DB773}"/>
              </a:ext>
            </a:extLst>
          </p:cNvPr>
          <p:cNvSpPr txBox="1"/>
          <p:nvPr/>
        </p:nvSpPr>
        <p:spPr>
          <a:xfrm rot="16200000">
            <a:off x="2853336" y="4488166"/>
            <a:ext cx="964316" cy="278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13" b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Biomarker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2FCA9-16BA-78F0-FBC3-74F103BA356D}"/>
              </a:ext>
            </a:extLst>
          </p:cNvPr>
          <p:cNvSpPr/>
          <p:nvPr/>
        </p:nvSpPr>
        <p:spPr>
          <a:xfrm>
            <a:off x="3138677" y="5471737"/>
            <a:ext cx="5619998" cy="775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3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4618FE-498B-EC94-DA0D-D1FF9C8A0A8F}"/>
              </a:ext>
            </a:extLst>
          </p:cNvPr>
          <p:cNvSpPr txBox="1"/>
          <p:nvPr/>
        </p:nvSpPr>
        <p:spPr>
          <a:xfrm rot="16200000">
            <a:off x="2913447" y="5634144"/>
            <a:ext cx="885863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13" b="1">
                <a:solidFill>
                  <a:schemeClr val="accent1">
                    <a:lumMod val="50000"/>
                  </a:schemeClr>
                </a:solidFill>
                <a:latin typeface="+mj-lt"/>
              </a:rPr>
              <a:t>Cognitive test</a:t>
            </a:r>
          </a:p>
        </p:txBody>
      </p:sp>
      <p:sp>
        <p:nvSpPr>
          <p:cNvPr id="31" name="Rectangle: Rounded Corners 44">
            <a:extLst>
              <a:ext uri="{FF2B5EF4-FFF2-40B4-BE49-F238E27FC236}">
                <a16:creationId xmlns:a16="http://schemas.microsoft.com/office/drawing/2014/main" id="{AB2C7ED9-0692-5B44-9132-84F80387995E}"/>
              </a:ext>
            </a:extLst>
          </p:cNvPr>
          <p:cNvSpPr/>
          <p:nvPr/>
        </p:nvSpPr>
        <p:spPr>
          <a:xfrm>
            <a:off x="4086544" y="4271474"/>
            <a:ext cx="3560432" cy="4527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i="0" u="none" strike="noStrike">
                <a:solidFill>
                  <a:srgbClr val="3D4551"/>
                </a:solidFill>
                <a:effectLst/>
                <a:latin typeface="Source Sans Pro Web"/>
              </a:rPr>
              <a:t>Cerebrospinal fluid biomarkers (CSF)</a:t>
            </a:r>
          </a:p>
        </p:txBody>
      </p:sp>
      <p:sp>
        <p:nvSpPr>
          <p:cNvPr id="36" name="Rectangle: Rounded Corners 31">
            <a:extLst>
              <a:ext uri="{FF2B5EF4-FFF2-40B4-BE49-F238E27FC236}">
                <a16:creationId xmlns:a16="http://schemas.microsoft.com/office/drawing/2014/main" id="{F140B300-6470-32BB-0EDA-3B57050A97E4}"/>
              </a:ext>
            </a:extLst>
          </p:cNvPr>
          <p:cNvSpPr/>
          <p:nvPr/>
        </p:nvSpPr>
        <p:spPr>
          <a:xfrm>
            <a:off x="5209622" y="3493685"/>
            <a:ext cx="1204637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>
                <a:solidFill>
                  <a:srgbClr val="3D4551"/>
                </a:solidFill>
                <a:latin typeface="Source Sans Pro Web"/>
              </a:rPr>
              <a:t>MRI</a:t>
            </a:r>
          </a:p>
        </p:txBody>
      </p:sp>
      <p:sp>
        <p:nvSpPr>
          <p:cNvPr id="37" name="Rectangle: Rounded Corners 38">
            <a:extLst>
              <a:ext uri="{FF2B5EF4-FFF2-40B4-BE49-F238E27FC236}">
                <a16:creationId xmlns:a16="http://schemas.microsoft.com/office/drawing/2014/main" id="{6C53259D-4BF0-8621-9B72-DED606E45F1F}"/>
              </a:ext>
            </a:extLst>
          </p:cNvPr>
          <p:cNvSpPr/>
          <p:nvPr/>
        </p:nvSpPr>
        <p:spPr>
          <a:xfrm>
            <a:off x="3714737" y="5638665"/>
            <a:ext cx="769530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+mj-lt"/>
              </a:rPr>
              <a:t>MMSE</a:t>
            </a:r>
          </a:p>
        </p:txBody>
      </p:sp>
      <p:sp>
        <p:nvSpPr>
          <p:cNvPr id="38" name="Rectangle: Rounded Corners 39">
            <a:extLst>
              <a:ext uri="{FF2B5EF4-FFF2-40B4-BE49-F238E27FC236}">
                <a16:creationId xmlns:a16="http://schemas.microsoft.com/office/drawing/2014/main" id="{D7A972D2-FD6B-1B34-4289-9F460BDF8A78}"/>
              </a:ext>
            </a:extLst>
          </p:cNvPr>
          <p:cNvSpPr/>
          <p:nvPr/>
        </p:nvSpPr>
        <p:spPr>
          <a:xfrm>
            <a:off x="4613797" y="5638462"/>
            <a:ext cx="821168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+mj-lt"/>
              </a:rPr>
              <a:t>Clock Test</a:t>
            </a:r>
          </a:p>
        </p:txBody>
      </p:sp>
      <p:sp>
        <p:nvSpPr>
          <p:cNvPr id="39" name="Rectangle: Rounded Corners 40">
            <a:extLst>
              <a:ext uri="{FF2B5EF4-FFF2-40B4-BE49-F238E27FC236}">
                <a16:creationId xmlns:a16="http://schemas.microsoft.com/office/drawing/2014/main" id="{264EFB37-B088-3E8F-5823-5A7E49BA94A7}"/>
              </a:ext>
            </a:extLst>
          </p:cNvPr>
          <p:cNvSpPr/>
          <p:nvPr/>
        </p:nvSpPr>
        <p:spPr>
          <a:xfrm>
            <a:off x="5556648" y="5633517"/>
            <a:ext cx="970802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+mj-lt"/>
              </a:rPr>
              <a:t>ADAS-Cog</a:t>
            </a:r>
          </a:p>
        </p:txBody>
      </p:sp>
      <p:sp>
        <p:nvSpPr>
          <p:cNvPr id="48" name="Rectangle: Rounded Corners 31">
            <a:extLst>
              <a:ext uri="{FF2B5EF4-FFF2-40B4-BE49-F238E27FC236}">
                <a16:creationId xmlns:a16="http://schemas.microsoft.com/office/drawing/2014/main" id="{44BDCCF6-FF52-5CE7-B1D1-F03CE39F14C3}"/>
              </a:ext>
            </a:extLst>
          </p:cNvPr>
          <p:cNvSpPr/>
          <p:nvPr/>
        </p:nvSpPr>
        <p:spPr>
          <a:xfrm>
            <a:off x="6841683" y="3497095"/>
            <a:ext cx="1610585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>
                <a:solidFill>
                  <a:srgbClr val="3D4551"/>
                </a:solidFill>
                <a:latin typeface="Source Sans Pro Web"/>
              </a:rPr>
              <a:t>Amyloid, Tau PET</a:t>
            </a:r>
          </a:p>
        </p:txBody>
      </p:sp>
      <p:sp>
        <p:nvSpPr>
          <p:cNvPr id="49" name="Rectangle: Rounded Corners 31">
            <a:extLst>
              <a:ext uri="{FF2B5EF4-FFF2-40B4-BE49-F238E27FC236}">
                <a16:creationId xmlns:a16="http://schemas.microsoft.com/office/drawing/2014/main" id="{E86D3E56-8EB0-8826-D167-3F556BF16562}"/>
              </a:ext>
            </a:extLst>
          </p:cNvPr>
          <p:cNvSpPr/>
          <p:nvPr/>
        </p:nvSpPr>
        <p:spPr>
          <a:xfrm>
            <a:off x="4256414" y="4804565"/>
            <a:ext cx="1104563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>
                <a:solidFill>
                  <a:srgbClr val="3D4551"/>
                </a:solidFill>
                <a:latin typeface="Source Sans Pro Web"/>
              </a:rPr>
              <a:t>Blood Test</a:t>
            </a:r>
          </a:p>
        </p:txBody>
      </p:sp>
      <p:sp>
        <p:nvSpPr>
          <p:cNvPr id="50" name="Rectangle: Rounded Corners 31">
            <a:extLst>
              <a:ext uri="{FF2B5EF4-FFF2-40B4-BE49-F238E27FC236}">
                <a16:creationId xmlns:a16="http://schemas.microsoft.com/office/drawing/2014/main" id="{F0916936-E399-9A56-E73A-F3DED2C2CF72}"/>
              </a:ext>
            </a:extLst>
          </p:cNvPr>
          <p:cNvSpPr/>
          <p:nvPr/>
        </p:nvSpPr>
        <p:spPr>
          <a:xfrm>
            <a:off x="6306445" y="4804565"/>
            <a:ext cx="1371097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>
                <a:solidFill>
                  <a:srgbClr val="3D4551"/>
                </a:solidFill>
                <a:latin typeface="Source Sans Pro Web"/>
              </a:rPr>
              <a:t>Genetic Profiling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754BD5-C0E8-12DA-9F86-65F3339DA75C}"/>
              </a:ext>
            </a:extLst>
          </p:cNvPr>
          <p:cNvSpPr txBox="1"/>
          <p:nvPr/>
        </p:nvSpPr>
        <p:spPr>
          <a:xfrm>
            <a:off x="0" y="6590643"/>
            <a:ext cx="9696786" cy="4154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/>
              <a:t>Note: MMSE: </a:t>
            </a:r>
            <a:r>
              <a:rPr lang="en-US" sz="1000" b="0" i="0" u="none" strike="noStrike">
                <a:solidFill>
                  <a:srgbClr val="222222"/>
                </a:solidFill>
                <a:effectLst/>
                <a:latin typeface="-apple-system"/>
              </a:rPr>
              <a:t>Mini-Mental State Examination, ADAS-Cog: Alzheimer’s Disease Assessment Scale-cognitive </a:t>
            </a:r>
            <a:r>
              <a:rPr lang="en-US" sz="1000">
                <a:solidFill>
                  <a:srgbClr val="222222"/>
                </a:solidFill>
                <a:latin typeface="-apple-system"/>
              </a:rPr>
              <a:t>subscale, PCP : Primary Care Physicians</a:t>
            </a:r>
          </a:p>
          <a:p>
            <a:endParaRPr lang="en-US" sz="1000">
              <a:solidFill>
                <a:srgbClr val="222222"/>
              </a:solidFill>
              <a:latin typeface="-apple-system"/>
            </a:endParaRPr>
          </a:p>
        </p:txBody>
      </p:sp>
      <p:sp>
        <p:nvSpPr>
          <p:cNvPr id="55" name="Rectangle: Rounded Corners 40">
            <a:extLst>
              <a:ext uri="{FF2B5EF4-FFF2-40B4-BE49-F238E27FC236}">
                <a16:creationId xmlns:a16="http://schemas.microsoft.com/office/drawing/2014/main" id="{0FBE7D39-25FD-FD73-F2AF-31D83DB92E88}"/>
              </a:ext>
            </a:extLst>
          </p:cNvPr>
          <p:cNvSpPr/>
          <p:nvPr/>
        </p:nvSpPr>
        <p:spPr>
          <a:xfrm>
            <a:off x="6701824" y="5626984"/>
            <a:ext cx="821168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+mj-lt"/>
              </a:rPr>
              <a:t>MoCA</a:t>
            </a:r>
          </a:p>
        </p:txBody>
      </p:sp>
      <p:sp>
        <p:nvSpPr>
          <p:cNvPr id="56" name="Rectangle: Rounded Corners 40">
            <a:extLst>
              <a:ext uri="{FF2B5EF4-FFF2-40B4-BE49-F238E27FC236}">
                <a16:creationId xmlns:a16="http://schemas.microsoft.com/office/drawing/2014/main" id="{9FA6DC0B-9352-3F5C-54CD-994C48C6BE3C}"/>
              </a:ext>
            </a:extLst>
          </p:cNvPr>
          <p:cNvSpPr/>
          <p:nvPr/>
        </p:nvSpPr>
        <p:spPr>
          <a:xfrm>
            <a:off x="7677542" y="5621574"/>
            <a:ext cx="969313" cy="46160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+mj-lt"/>
              </a:rPr>
              <a:t>CAMCOG</a:t>
            </a:r>
          </a:p>
        </p:txBody>
      </p:sp>
      <p:pic>
        <p:nvPicPr>
          <p:cNvPr id="3" name="Picture 2" descr="A diagram of a patient&amp;#39;s diagnosis&#10;&#10;Description automatically generated">
            <a:extLst>
              <a:ext uri="{FF2B5EF4-FFF2-40B4-BE49-F238E27FC236}">
                <a16:creationId xmlns:a16="http://schemas.microsoft.com/office/drawing/2014/main" id="{87A8EC92-9BE9-11F2-7110-35C013DA9A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40" b="38779"/>
          <a:stretch/>
        </p:blipFill>
        <p:spPr>
          <a:xfrm>
            <a:off x="1847205" y="871341"/>
            <a:ext cx="9357587" cy="18676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163353-0CC3-6AE4-FCCB-C066EC9F1F49}"/>
              </a:ext>
            </a:extLst>
          </p:cNvPr>
          <p:cNvSpPr/>
          <p:nvPr/>
        </p:nvSpPr>
        <p:spPr>
          <a:xfrm>
            <a:off x="1818803" y="1806941"/>
            <a:ext cx="1537575" cy="4533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284C3D-4F79-550F-C062-5BF487C2552D}"/>
              </a:ext>
            </a:extLst>
          </p:cNvPr>
          <p:cNvSpPr/>
          <p:nvPr/>
        </p:nvSpPr>
        <p:spPr>
          <a:xfrm>
            <a:off x="7818667" y="2462474"/>
            <a:ext cx="943785" cy="579422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58CBCE-EA73-ED9E-45D5-8A5635197E55}"/>
              </a:ext>
            </a:extLst>
          </p:cNvPr>
          <p:cNvCxnSpPr/>
          <p:nvPr/>
        </p:nvCxnSpPr>
        <p:spPr>
          <a:xfrm flipH="1" flipV="1">
            <a:off x="4708723" y="2417545"/>
            <a:ext cx="10160" cy="71134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EB7B06B-4A13-CC67-2AE3-5739D75ABE6F}"/>
              </a:ext>
            </a:extLst>
          </p:cNvPr>
          <p:cNvSpPr txBox="1"/>
          <p:nvPr/>
        </p:nvSpPr>
        <p:spPr>
          <a:xfrm>
            <a:off x="6746240" y="303784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0623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diagram of a human head&#10;&#10;Description automatically generated">
            <a:extLst>
              <a:ext uri="{FF2B5EF4-FFF2-40B4-BE49-F238E27FC236}">
                <a16:creationId xmlns:a16="http://schemas.microsoft.com/office/drawing/2014/main" id="{AF234437-A01C-5886-590F-B011360C83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000" t="17442" b="-72"/>
          <a:stretch/>
        </p:blipFill>
        <p:spPr>
          <a:xfrm>
            <a:off x="8050307" y="4022365"/>
            <a:ext cx="3693458" cy="251795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85F90A-C0E0-2A43-61ED-E6AA28249F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6314" y="1265368"/>
            <a:ext cx="10694759" cy="1345142"/>
          </a:xfrm>
        </p:spPr>
        <p:txBody>
          <a:bodyPr vert="horz" lIns="0" tIns="0" rIns="0" bIns="0" numCol="1" spcCol="126000" rtlCol="0" anchor="t">
            <a:noAutofit/>
          </a:bodyPr>
          <a:lstStyle/>
          <a:p>
            <a:pPr marL="342900" indent="-342900" fontAlgn="base">
              <a:buChar char="•"/>
            </a:pPr>
            <a:r>
              <a:rPr lang="en-US" sz="2100" b="0">
                <a:solidFill>
                  <a:srgbClr val="023052"/>
                </a:solidFill>
                <a:latin typeface="+mn-lt"/>
                <a:ea typeface="メイリオ"/>
                <a:cs typeface="Calibri"/>
              </a:rPr>
              <a:t>V</a:t>
            </a:r>
            <a:r>
              <a:rPr lang="en-US" sz="2100" b="0" i="0" u="none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oice brings an </a:t>
            </a:r>
            <a:r>
              <a:rPr lang="en-US" sz="2100" b="0">
                <a:solidFill>
                  <a:srgbClr val="023052"/>
                </a:solidFill>
                <a:latin typeface="+mn-lt"/>
                <a:ea typeface="メイリオ"/>
                <a:cs typeface="Calibri"/>
              </a:rPr>
              <a:t>unique </a:t>
            </a:r>
            <a:r>
              <a:rPr lang="en-US" sz="2100" b="0" i="0" u="none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layer of </a:t>
            </a:r>
            <a:r>
              <a:rPr lang="en-US" sz="2100" b="0" i="0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understanding to cognitive assessments </a:t>
            </a:r>
            <a:r>
              <a:rPr lang="en-US" sz="2100" b="0" i="0" u="none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by accounting for </a:t>
            </a:r>
            <a:r>
              <a:rPr lang="en-US" sz="2100" i="0" u="none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content (what is said) </a:t>
            </a:r>
            <a:r>
              <a:rPr lang="en-US" sz="2100" b="0" i="0" u="none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&amp; </a:t>
            </a:r>
            <a:r>
              <a:rPr lang="en-US" sz="2100" i="0" u="none" strike="noStrike">
                <a:solidFill>
                  <a:srgbClr val="023052"/>
                </a:solidFill>
                <a:effectLst/>
                <a:latin typeface="+mn-lt"/>
                <a:ea typeface="メイリオ"/>
                <a:cs typeface="Calibri"/>
              </a:rPr>
              <a:t>acoustic properties (how it is said)</a:t>
            </a:r>
            <a:endParaRPr lang="en-US" sz="2100"/>
          </a:p>
          <a:p>
            <a:pPr marL="342900" indent="-342900">
              <a:buChar char="•"/>
            </a:pPr>
            <a:r>
              <a:rPr lang="en-US" sz="2100" b="0">
                <a:solidFill>
                  <a:srgbClr val="023052"/>
                </a:solidFill>
                <a:latin typeface="+mn-lt"/>
                <a:ea typeface="メイリオ"/>
                <a:cs typeface="Calibri"/>
              </a:rPr>
              <a:t>Mechanism: Changes in brain &amp; nervous system --&gt; dramatic effects on speech &amp; language --&gt; voice biomarkers --&gt; monitoring neurological &amp; psychiatric disorders</a:t>
            </a:r>
            <a:endParaRPr lang="en-US" sz="2100">
              <a:solidFill>
                <a:srgbClr val="023052"/>
              </a:solidFill>
              <a:latin typeface="+mn-lt"/>
              <a:ea typeface="メイリオ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B1E18B-138F-644C-B80E-ADC6241DD4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5991" y="762635"/>
            <a:ext cx="6260076" cy="317609"/>
          </a:xfrm>
        </p:spPr>
        <p:txBody>
          <a:bodyPr vert="horz" lIns="0" tIns="0" rIns="0" bIns="0" numCol="1" rtlCol="0" anchor="t">
            <a:noAutofit/>
          </a:bodyPr>
          <a:lstStyle/>
          <a:p>
            <a:pPr algn="ctr"/>
            <a:r>
              <a:rPr lang="en-US" sz="2400">
                <a:latin typeface="Calibri"/>
                <a:ea typeface="メイリオ"/>
                <a:cs typeface="Calibri"/>
              </a:rPr>
              <a:t>Voice as biomarker for AD progression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34F899B-AD2B-614B-33D0-E29CD681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14" y="156813"/>
            <a:ext cx="9940253" cy="685801"/>
          </a:xfrm>
        </p:spPr>
        <p:txBody>
          <a:bodyPr/>
          <a:lstStyle/>
          <a:p>
            <a:r>
              <a:rPr lang="en-GB">
                <a:latin typeface="Calibri"/>
                <a:ea typeface="メイリオ"/>
                <a:cs typeface="Calibri"/>
              </a:rPr>
              <a:t>Proposed Solution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50E6C8-1D3E-F468-7BAD-3850E64B5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609" y="6442319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10</a:t>
            </a:fld>
            <a:endParaRPr lang="ja-JP" altLang="en-US"/>
          </a:p>
        </p:txBody>
      </p:sp>
      <p:pic>
        <p:nvPicPr>
          <p:cNvPr id="9" name="Picture 9" descr="A diagram of a medical test&#10;&#10;Description automatically generated">
            <a:extLst>
              <a:ext uri="{FF2B5EF4-FFF2-40B4-BE49-F238E27FC236}">
                <a16:creationId xmlns:a16="http://schemas.microsoft.com/office/drawing/2014/main" id="{13C086E5-CBAF-61CE-5603-3A231A654A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279" t="45383" r="26965" b="894"/>
          <a:stretch/>
        </p:blipFill>
        <p:spPr>
          <a:xfrm>
            <a:off x="3300800" y="3067741"/>
            <a:ext cx="4847426" cy="33934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E6504D-1064-51BA-26F3-0452C171F6FB}"/>
              </a:ext>
            </a:extLst>
          </p:cNvPr>
          <p:cNvSpPr txBox="1"/>
          <p:nvPr/>
        </p:nvSpPr>
        <p:spPr>
          <a:xfrm>
            <a:off x="3827716" y="6282623"/>
            <a:ext cx="83735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CE473718-1F34-0020-B810-549D25C41952}"/>
              </a:ext>
            </a:extLst>
          </p:cNvPr>
          <p:cNvSpPr/>
          <p:nvPr/>
        </p:nvSpPr>
        <p:spPr>
          <a:xfrm rot="10800000">
            <a:off x="5859934" y="3599879"/>
            <a:ext cx="1494586" cy="367555"/>
          </a:xfrm>
          <a:prstGeom prst="leftArrow">
            <a:avLst/>
          </a:prstGeom>
          <a:solidFill>
            <a:srgbClr val="00B0F0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BF3BF8-F068-A095-BD97-6A84DF86B987}"/>
              </a:ext>
            </a:extLst>
          </p:cNvPr>
          <p:cNvSpPr txBox="1"/>
          <p:nvPr/>
        </p:nvSpPr>
        <p:spPr>
          <a:xfrm>
            <a:off x="7522957" y="3019943"/>
            <a:ext cx="4210277" cy="932294"/>
          </a:xfrm>
          <a:prstGeom prst="rect">
            <a:avLst/>
          </a:prstGeom>
          <a:solidFill>
            <a:srgbClr val="00B0F0">
              <a:alpha val="47927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b="0" i="0" u="none" strike="noStrike">
                <a:solidFill>
                  <a:srgbClr val="023052"/>
                </a:solidFill>
                <a:effectLst/>
                <a:latin typeface="+mn-lt"/>
              </a:rPr>
              <a:t>Voice offers </a:t>
            </a:r>
            <a:r>
              <a:rPr lang="en-US" b="1" u="sng">
                <a:solidFill>
                  <a:srgbClr val="023052"/>
                </a:solidFill>
              </a:rPr>
              <a:t>richer</a:t>
            </a:r>
            <a:r>
              <a:rPr lang="en-US" sz="1800" b="1" i="0" u="sng" strike="noStrike">
                <a:solidFill>
                  <a:srgbClr val="023052"/>
                </a:solidFill>
                <a:effectLst/>
                <a:latin typeface="+mn-lt"/>
              </a:rPr>
              <a:t> objective understanding</a:t>
            </a:r>
            <a:r>
              <a:rPr lang="en-US" sz="1800" b="0" i="0" u="none" strike="noStrike">
                <a:solidFill>
                  <a:srgbClr val="023052"/>
                </a:solidFill>
                <a:effectLst/>
                <a:latin typeface="+mn-lt"/>
              </a:rPr>
              <a:t> of patient functioning at both an individual and group level</a:t>
            </a:r>
            <a:endParaRPr lang="en-US">
              <a:cs typeface="Calibri" panose="020F0502020204030204"/>
            </a:endParaRPr>
          </a:p>
        </p:txBody>
      </p:sp>
      <p:pic>
        <p:nvPicPr>
          <p:cNvPr id="4" name="Picture 9" descr="A diagram of a medical test&#10;&#10;Description automatically generated">
            <a:extLst>
              <a:ext uri="{FF2B5EF4-FFF2-40B4-BE49-F238E27FC236}">
                <a16:creationId xmlns:a16="http://schemas.microsoft.com/office/drawing/2014/main" id="{9FBE7595-B4DB-AE6F-FF82-6C98CD946B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008" t="45383" r="2988" b="1207"/>
          <a:stretch/>
        </p:blipFill>
        <p:spPr>
          <a:xfrm>
            <a:off x="647248" y="2718115"/>
            <a:ext cx="2654489" cy="3743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AA2B4B-00EE-5D6D-D543-030B03DFE1C6}"/>
              </a:ext>
            </a:extLst>
          </p:cNvPr>
          <p:cNvSpPr txBox="1"/>
          <p:nvPr/>
        </p:nvSpPr>
        <p:spPr>
          <a:xfrm>
            <a:off x="4724400" y="320040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81116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A86E6B-6475-7F5B-A79F-D8DB5324031C}"/>
              </a:ext>
            </a:extLst>
          </p:cNvPr>
          <p:cNvGrpSpPr/>
          <p:nvPr/>
        </p:nvGrpSpPr>
        <p:grpSpPr>
          <a:xfrm>
            <a:off x="393070" y="1174461"/>
            <a:ext cx="11403119" cy="597857"/>
            <a:chOff x="408676" y="1587912"/>
            <a:chExt cx="9685201" cy="59785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D5162C-1F64-BC8E-ABDD-B34CFE695083}"/>
                </a:ext>
              </a:extLst>
            </p:cNvPr>
            <p:cNvGrpSpPr/>
            <p:nvPr/>
          </p:nvGrpSpPr>
          <p:grpSpPr>
            <a:xfrm>
              <a:off x="408676" y="1587912"/>
              <a:ext cx="4621682" cy="597857"/>
              <a:chOff x="408676" y="1587912"/>
              <a:chExt cx="4621682" cy="597857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402E41-7C92-422B-08A3-B9C9AB9CA5E1}"/>
                  </a:ext>
                </a:extLst>
              </p:cNvPr>
              <p:cNvSpPr/>
              <p:nvPr/>
            </p:nvSpPr>
            <p:spPr>
              <a:xfrm>
                <a:off x="408676" y="1587912"/>
                <a:ext cx="621792" cy="597857"/>
              </a:xfrm>
              <a:prstGeom prst="rect">
                <a:avLst/>
              </a:prstGeom>
              <a:solidFill>
                <a:srgbClr val="00486C"/>
              </a:solidFill>
              <a:ln w="25400" cap="flat" cmpd="sng" algn="ctr">
                <a:solidFill>
                  <a:srgbClr val="00486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defTabSz="1219140">
                  <a:defRPr/>
                </a:pPr>
                <a:r>
                  <a:rPr lang="en-US" sz="4267" b="1" kern="0">
                    <a:solidFill>
                      <a:prstClr val="white"/>
                    </a:solidFill>
                    <a:effectLst>
                      <a:innerShdw blurRad="50800">
                        <a:prstClr val="black"/>
                      </a:innerShdw>
                    </a:effectLst>
                    <a:latin typeface="Arial Narrow" panose="020B0606020202030204" pitchFamily="34" charset="0"/>
                  </a:rPr>
                  <a:t>1</a:t>
                </a:r>
              </a:p>
            </p:txBody>
          </p:sp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98D51313-3168-3DB1-788A-62BDE4669B47}"/>
                  </a:ext>
                </a:extLst>
              </p:cNvPr>
              <p:cNvSpPr/>
              <p:nvPr/>
            </p:nvSpPr>
            <p:spPr>
              <a:xfrm rot="16200000">
                <a:off x="582789" y="1738090"/>
                <a:ext cx="597855" cy="297502"/>
              </a:xfrm>
              <a:prstGeom prst="trapezoid">
                <a:avLst>
                  <a:gd name="adj" fmla="val 96948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25400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defTabSz="1219140">
                  <a:defRPr/>
                </a:pPr>
                <a:endParaRPr lang="en-US" sz="2133" b="1" kern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126FD5E-A312-5237-F88B-C09983C49A3E}"/>
                  </a:ext>
                </a:extLst>
              </p:cNvPr>
              <p:cNvSpPr/>
              <p:nvPr/>
            </p:nvSpPr>
            <p:spPr>
              <a:xfrm>
                <a:off x="732964" y="1675978"/>
                <a:ext cx="4297394" cy="405695"/>
              </a:xfrm>
              <a:prstGeom prst="rect">
                <a:avLst/>
              </a:prstGeom>
              <a:solidFill>
                <a:srgbClr val="00486C"/>
              </a:solidFill>
              <a:ln w="25400" cap="flat" cmpd="sng" algn="ctr">
                <a:solidFill>
                  <a:srgbClr val="00486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/>
              <a:lstStyle/>
              <a:p>
                <a:pPr defTabSz="1625478">
                  <a:defRPr/>
                </a:pPr>
                <a:r>
                  <a:rPr lang="en-US" sz="1333" b="1" kern="0">
                    <a:solidFill>
                      <a:prstClr val="white"/>
                    </a:solidFill>
                    <a:latin typeface="Arial"/>
                  </a:rPr>
                  <a:t>  Customer Segments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EFCA94-0E9C-C0CA-05B5-74023BF4673D}"/>
                </a:ext>
              </a:extLst>
            </p:cNvPr>
            <p:cNvGrpSpPr/>
            <p:nvPr/>
          </p:nvGrpSpPr>
          <p:grpSpPr>
            <a:xfrm>
              <a:off x="5127826" y="1587913"/>
              <a:ext cx="4966051" cy="597855"/>
              <a:chOff x="5127826" y="1587913"/>
              <a:chExt cx="4966051" cy="59785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C06599A-6671-B698-5F9F-044F04683B73}"/>
                  </a:ext>
                </a:extLst>
              </p:cNvPr>
              <p:cNvSpPr/>
              <p:nvPr/>
            </p:nvSpPr>
            <p:spPr>
              <a:xfrm>
                <a:off x="5127826" y="1587913"/>
                <a:ext cx="625694" cy="597855"/>
              </a:xfrm>
              <a:prstGeom prst="rect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defTabSz="1219140">
                  <a:defRPr/>
                </a:pPr>
                <a:r>
                  <a:rPr lang="en-US" sz="4267" b="1" kern="0">
                    <a:solidFill>
                      <a:prstClr val="white"/>
                    </a:solidFill>
                    <a:effectLst>
                      <a:innerShdw blurRad="50800">
                        <a:prstClr val="black"/>
                      </a:innerShdw>
                    </a:effectLst>
                    <a:latin typeface="Arial Narrow" panose="020B0606020202030204" pitchFamily="34" charset="0"/>
                  </a:rPr>
                  <a:t>2</a:t>
                </a:r>
              </a:p>
            </p:txBody>
          </p:sp>
          <p:sp>
            <p:nvSpPr>
              <p:cNvPr id="18" name="Trapezoid 17">
                <a:extLst>
                  <a:ext uri="{FF2B5EF4-FFF2-40B4-BE49-F238E27FC236}">
                    <a16:creationId xmlns:a16="http://schemas.microsoft.com/office/drawing/2014/main" id="{D59DECDD-0E88-BDBD-0BBD-27993C4136D7}"/>
                  </a:ext>
                </a:extLst>
              </p:cNvPr>
              <p:cNvSpPr/>
              <p:nvPr/>
            </p:nvSpPr>
            <p:spPr>
              <a:xfrm rot="16200000">
                <a:off x="5345199" y="1782480"/>
                <a:ext cx="597853" cy="208720"/>
              </a:xfrm>
              <a:prstGeom prst="trapezoid">
                <a:avLst>
                  <a:gd name="adj" fmla="val 96948"/>
                </a:avLst>
              </a:prstGeom>
              <a:solidFill>
                <a:schemeClr val="accent6">
                  <a:lumMod val="50000"/>
                </a:schemeClr>
              </a:solidFill>
              <a:ln w="25400" cap="flat" cmpd="sng" algn="ctr">
                <a:solidFill>
                  <a:schemeClr val="accent6">
                    <a:lumMod val="50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defTabSz="1219140">
                  <a:defRPr/>
                </a:pPr>
                <a:endParaRPr lang="en-US" sz="2133" b="1" kern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EAAB5F7-4AD2-216B-FF29-6C89E7D5C22C}"/>
                  </a:ext>
                </a:extLst>
              </p:cNvPr>
              <p:cNvSpPr/>
              <p:nvPr/>
            </p:nvSpPr>
            <p:spPr>
              <a:xfrm>
                <a:off x="5540498" y="1675979"/>
                <a:ext cx="4553379" cy="405694"/>
              </a:xfrm>
              <a:prstGeom prst="rect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/>
              <a:lstStyle/>
              <a:p>
                <a:pPr defTabSz="1625478">
                  <a:defRPr/>
                </a:pPr>
                <a:r>
                  <a:rPr lang="en-US" sz="1300" b="1" kern="0">
                    <a:solidFill>
                      <a:schemeClr val="bg1"/>
                    </a:solidFill>
                    <a:latin typeface="Arial"/>
                  </a:rPr>
                  <a:t>Hypothesized Value Proposition</a:t>
                </a:r>
                <a:endParaRPr lang="en-US" sz="1300" b="1" kern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p:grpSp>
      </p:grp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E1DC2EF-E0E1-48FF-7D7E-563EC9743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27303"/>
              </p:ext>
            </p:extLst>
          </p:nvPr>
        </p:nvGraphicFramePr>
        <p:xfrm>
          <a:off x="397326" y="1915978"/>
          <a:ext cx="11466217" cy="412327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372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8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Pharma in AD treatment R&amp;D space and Clinical trial recruiting vendors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kumimoji="1" lang="en-US" sz="14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Scaling the screening</a:t>
                      </a: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of eligible patient population for clinical trials from 20k to 500K</a:t>
                      </a:r>
                      <a:r>
                        <a:rPr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+, and </a:t>
                      </a:r>
                      <a:r>
                        <a:rPr lang="en-US" sz="14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lowering</a:t>
                      </a:r>
                      <a:r>
                        <a:rPr kumimoji="1" lang="en-US" sz="14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the cost of screening</a:t>
                      </a: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by 80%</a:t>
                      </a:r>
                      <a:endParaRPr kumimoji="1" lang="en-US"/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Higher </a:t>
                      </a:r>
                      <a:r>
                        <a:rPr kumimoji="1" lang="en-US" sz="14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engagement</a:t>
                      </a: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rate and better patient </a:t>
                      </a:r>
                      <a:r>
                        <a:rPr kumimoji="1" lang="en-US" sz="14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adherence</a:t>
                      </a: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by ~30%</a:t>
                      </a:r>
                      <a:endParaRPr lang="en-US" sz="1400" b="0" i="0" u="none" strike="noStrike" kern="1200" baseline="0" noProof="0">
                        <a:solidFill>
                          <a:srgbClr val="4F535F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E1242A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Affordable</a:t>
                      </a:r>
                      <a:r>
                        <a:rPr kumimoji="1"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 longitudinal </a:t>
                      </a:r>
                      <a:r>
                        <a:rPr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assessment</a:t>
                      </a:r>
                      <a:endParaRPr lang="en-US" sz="1400" b="0" i="0" u="none" strike="noStrike" kern="1200" baseline="0" noProof="0">
                        <a:solidFill>
                          <a:srgbClr val="4F535F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E1242A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Enable</a:t>
                      </a:r>
                      <a:r>
                        <a:rPr kumimoji="1"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 decentralized data collection</a:t>
                      </a:r>
                      <a:r>
                        <a:rPr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 and </a:t>
                      </a:r>
                      <a:r>
                        <a:rPr lang="en-US" sz="1400" b="0" i="0" u="none" strike="noStrike" kern="1200" baseline="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impove</a:t>
                      </a:r>
                      <a:r>
                        <a:rPr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 data analysis</a:t>
                      </a:r>
                      <a:endParaRPr kumimoji="1" lang="en-US" sz="1400" b="0" i="0" u="none" strike="noStrike" kern="1200" baseline="0" noProof="0">
                        <a:solidFill>
                          <a:srgbClr val="4F535F"/>
                        </a:solidFill>
                        <a:latin typeface="Arial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14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1" lang="en-US" sz="18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Patients &amp; Care giver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Users' convenience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Independent with care giver assistance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Reduce Caregiver burden 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i="0" u="none" strike="noStrike" kern="1200" baseline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Lower the barrier and costs for patient to come into clinic for study follow up </a:t>
                      </a:r>
                      <a:endParaRPr kumimoji="1" lang="en-US" sz="1400" b="0" i="0" u="none" strike="noStrike" kern="12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01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1" lang="en-US" sz="18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Doctors and providers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More frequent and objective disease progression monitoring</a:t>
                      </a:r>
                      <a:r>
                        <a:rPr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1" lang="en-US" sz="1400" b="0" kern="12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Detection of comorbidities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408578367"/>
                  </a:ext>
                </a:extLst>
              </a:tr>
              <a:tr h="78046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1" lang="en-US" sz="18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Payers and insurance company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Enable more cost-effective diagnostic tool for treatment prior authorization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Prevention driven solution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9339157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77B1679-2D77-0E79-C99A-79270C00DB8D}"/>
              </a:ext>
            </a:extLst>
          </p:cNvPr>
          <p:cNvSpPr txBox="1"/>
          <p:nvPr/>
        </p:nvSpPr>
        <p:spPr>
          <a:xfrm>
            <a:off x="427116" y="280192"/>
            <a:ext cx="879592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latin typeface="+mj-lt"/>
              </a:rPr>
              <a:t>Customer Segmentation Discovery and hypothesis</a:t>
            </a:r>
            <a:endParaRPr lang="en-US" sz="2800" b="1">
              <a:latin typeface="+mj-lt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60F076-EEF6-50C3-8132-502D46A12ADE}"/>
              </a:ext>
            </a:extLst>
          </p:cNvPr>
          <p:cNvSpPr txBox="1"/>
          <p:nvPr/>
        </p:nvSpPr>
        <p:spPr>
          <a:xfrm>
            <a:off x="4724400" y="320040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10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C23D34-946C-C6DD-A9BF-10411F43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メイリオ"/>
                <a:cs typeface="Calibri"/>
              </a:rPr>
              <a:t>Our interviews</a:t>
            </a:r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47C7F3-4355-D679-5EFF-3909FBB38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8" y="1354600"/>
            <a:ext cx="5338535" cy="29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E05015D-4F60-EAF3-C234-A15300B73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388" y="1341153"/>
            <a:ext cx="5236399" cy="299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6BF36D7-7A2B-144B-51B5-804FA5E36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8" y="4475395"/>
            <a:ext cx="3992816" cy="229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189B6E3D-0BF7-F9BD-3D71-42C9F22A7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38" y="4475395"/>
            <a:ext cx="6792949" cy="224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yellow triangle with blue text&#10;&#10;Description automatically generated">
            <a:extLst>
              <a:ext uri="{FF2B5EF4-FFF2-40B4-BE49-F238E27FC236}">
                <a16:creationId xmlns:a16="http://schemas.microsoft.com/office/drawing/2014/main" id="{DCB85ED7-A3B9-DBE6-BADF-491CA61229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779" y="1439766"/>
            <a:ext cx="424302" cy="255072"/>
          </a:xfrm>
          <a:prstGeom prst="rect">
            <a:avLst/>
          </a:prstGeom>
        </p:spPr>
      </p:pic>
      <p:pic>
        <p:nvPicPr>
          <p:cNvPr id="11" name="Content Placeholder 5" descr="A logo for a company&#10;&#10;Description automatically generated">
            <a:extLst>
              <a:ext uri="{FF2B5EF4-FFF2-40B4-BE49-F238E27FC236}">
                <a16:creationId xmlns:a16="http://schemas.microsoft.com/office/drawing/2014/main" id="{9B5B2517-30D5-5959-5FB2-42F26E880D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081" y="1439765"/>
            <a:ext cx="388880" cy="25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5368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CD0AD2-B621-4022-C094-DE9A77FF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41" y="0"/>
            <a:ext cx="9940253" cy="685801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Proxima Nova"/>
                <a:ea typeface="メイリオ"/>
                <a:cs typeface="Calibri"/>
              </a:rPr>
              <a:t>Key Learnings from top 3 Interviews </a:t>
            </a:r>
            <a:endParaRPr lang="en-US">
              <a:ea typeface="メイリオ"/>
              <a:cs typeface="Calibri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611A0E0-D8B1-0552-490A-5715D8235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71938"/>
              </p:ext>
            </p:extLst>
          </p:nvPr>
        </p:nvGraphicFramePr>
        <p:xfrm>
          <a:off x="6601948" y="960740"/>
          <a:ext cx="4616605" cy="81597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616605">
                  <a:extLst>
                    <a:ext uri="{9D8B030D-6E8A-4147-A177-3AD203B41FA5}">
                      <a16:colId xmlns:a16="http://schemas.microsoft.com/office/drawing/2014/main" val="1914008165"/>
                    </a:ext>
                  </a:extLst>
                </a:gridCol>
              </a:tblGrid>
              <a:tr h="815976">
                <a:tc>
                  <a:txBody>
                    <a:bodyPr/>
                    <a:lstStyle/>
                    <a:p>
                      <a:pPr algn="ctr"/>
                      <a:r>
                        <a:rPr lang="en-US" sz="3600"/>
                        <a:t>Key learnings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3615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A227A27-2DAC-E580-6714-F4B8C90EBA88}"/>
              </a:ext>
            </a:extLst>
          </p:cNvPr>
          <p:cNvSpPr txBox="1"/>
          <p:nvPr/>
        </p:nvSpPr>
        <p:spPr>
          <a:xfrm>
            <a:off x="7372159" y="2130893"/>
            <a:ext cx="32903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914150" rtl="0" eaLnBrk="1" latinLnBrk="0" hangingPunct="1"/>
            <a:r>
              <a:rPr kumimoji="1" lang="en-US" sz="1800" b="1" u="none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“Need a sensitive tool to decide new intervention to patients”</a:t>
            </a:r>
          </a:p>
        </p:txBody>
      </p:sp>
      <p:pic>
        <p:nvPicPr>
          <p:cNvPr id="2" name="Picture 4" descr="A person with her arms crossed&#10;&#10;Description automatically generated">
            <a:extLst>
              <a:ext uri="{FF2B5EF4-FFF2-40B4-BE49-F238E27FC236}">
                <a16:creationId xmlns:a16="http://schemas.microsoft.com/office/drawing/2014/main" id="{B62930B4-C965-4597-CDD2-56BEE36DB8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16" t="4225" r="2456" b="2465"/>
          <a:stretch/>
        </p:blipFill>
        <p:spPr>
          <a:xfrm>
            <a:off x="1963220" y="1119524"/>
            <a:ext cx="2670117" cy="271035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986811-C623-3699-28C8-DA6C74690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922365"/>
              </p:ext>
            </p:extLst>
          </p:nvPr>
        </p:nvGraphicFramePr>
        <p:xfrm>
          <a:off x="1126307" y="3806647"/>
          <a:ext cx="4462574" cy="2058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2574">
                  <a:extLst>
                    <a:ext uri="{9D8B030D-6E8A-4147-A177-3AD203B41FA5}">
                      <a16:colId xmlns:a16="http://schemas.microsoft.com/office/drawing/2014/main" val="515282060"/>
                    </a:ext>
                  </a:extLst>
                </a:gridCol>
              </a:tblGrid>
              <a:tr h="70308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err="1">
                          <a:effectLst/>
                        </a:rPr>
                        <a:t>Walaa</a:t>
                      </a:r>
                      <a:r>
                        <a:rPr lang="en-US" sz="2800">
                          <a:effectLst/>
                        </a:rPr>
                        <a:t> </a:t>
                      </a:r>
                      <a:r>
                        <a:rPr lang="en-US" sz="2800" err="1">
                          <a:effectLst/>
                        </a:rPr>
                        <a:t>Elsayed</a:t>
                      </a:r>
                      <a:r>
                        <a:rPr lang="en-US" sz="2800">
                          <a:effectLst/>
                        </a:rPr>
                        <a:t>​</a:t>
                      </a:r>
                      <a:endParaRPr lang="en-US" sz="32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641945"/>
                  </a:ext>
                </a:extLst>
              </a:tr>
              <a:tr h="13553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>
                          <a:effectLst/>
                        </a:rPr>
                        <a:t>Associate professor of neurology in Egypt, research scholar at Northwestern University​</a:t>
                      </a:r>
                      <a:endParaRPr lang="en-US" sz="3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2406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D8E951-AD75-09B7-38E9-26A6F921BBB4}"/>
              </a:ext>
            </a:extLst>
          </p:cNvPr>
          <p:cNvSpPr txBox="1"/>
          <p:nvPr/>
        </p:nvSpPr>
        <p:spPr>
          <a:xfrm>
            <a:off x="6294895" y="2863801"/>
            <a:ext cx="52307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b="1">
                <a:cs typeface="Arial"/>
              </a:rPr>
              <a:t>Many have accompanying symptoms like physiological or hallucination, or depression​</a:t>
            </a:r>
          </a:p>
          <a:p>
            <a:endParaRPr lang="en-US" b="1">
              <a:cs typeface="Arial"/>
            </a:endParaRPr>
          </a:p>
          <a:p>
            <a:pPr>
              <a:buChar char="•"/>
            </a:pPr>
            <a:r>
              <a:rPr lang="en-US" b="1">
                <a:cs typeface="Arial"/>
              </a:rPr>
              <a:t>Neuro psychological &amp; cognitive assessment not always available ​</a:t>
            </a:r>
          </a:p>
          <a:p>
            <a:endParaRPr lang="en-US" b="1">
              <a:cs typeface="Arial"/>
            </a:endParaRPr>
          </a:p>
          <a:p>
            <a:pPr>
              <a:buChar char="•"/>
            </a:pPr>
            <a:r>
              <a:rPr lang="en-US" b="1">
                <a:cs typeface="Arial"/>
              </a:rPr>
              <a:t>MMSE/ MoCA are the most used cognitive score but not enough in telling the new symptom​</a:t>
            </a:r>
          </a:p>
          <a:p>
            <a:endParaRPr lang="en-US" b="1">
              <a:cs typeface="Arial"/>
            </a:endParaRPr>
          </a:p>
          <a:p>
            <a:pPr>
              <a:buChar char="•"/>
            </a:pPr>
            <a:r>
              <a:rPr lang="en-US" b="1">
                <a:cs typeface="Arial"/>
              </a:rPr>
              <a:t>Many standard endpoints measurement tool are not available in the clinic </a:t>
            </a:r>
          </a:p>
        </p:txBody>
      </p:sp>
    </p:spTree>
    <p:extLst>
      <p:ext uri="{BB962C8B-B14F-4D97-AF65-F5344CB8AC3E}">
        <p14:creationId xmlns:p14="http://schemas.microsoft.com/office/powerpoint/2010/main" val="282461783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CD0AD2-B621-4022-C094-DE9A77FF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41" y="0"/>
            <a:ext cx="9940253" cy="685801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Proxima Nova"/>
                <a:ea typeface="メイリオ"/>
                <a:cs typeface="Calibri"/>
              </a:rPr>
              <a:t>Key Learnings from top 3 Interviews </a:t>
            </a:r>
            <a:endParaRPr lang="en-US">
              <a:ea typeface="メイリオ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4BC73-11A3-B095-D072-79CB1AC9EC63}"/>
              </a:ext>
            </a:extLst>
          </p:cNvPr>
          <p:cNvSpPr txBox="1"/>
          <p:nvPr/>
        </p:nvSpPr>
        <p:spPr>
          <a:xfrm>
            <a:off x="6668202" y="2387381"/>
            <a:ext cx="44539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0" eaLnBrk="1" latinLnBrk="0" hangingPunct="1"/>
            <a:r>
              <a:rPr kumimoji="1" lang="en-US" sz="1800" b="1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“Pharma can be the primary buyer”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5B83F3-FDD5-7B10-2D9D-0CC04D197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492337"/>
              </p:ext>
            </p:extLst>
          </p:nvPr>
        </p:nvGraphicFramePr>
        <p:xfrm>
          <a:off x="1443350" y="4188460"/>
          <a:ext cx="342130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1305">
                  <a:extLst>
                    <a:ext uri="{9D8B030D-6E8A-4147-A177-3AD203B41FA5}">
                      <a16:colId xmlns:a16="http://schemas.microsoft.com/office/drawing/2014/main" val="931900148"/>
                    </a:ext>
                  </a:extLst>
                </a:gridCol>
              </a:tblGrid>
              <a:tr h="229593">
                <a:tc>
                  <a:txBody>
                    <a:bodyPr/>
                    <a:lstStyle/>
                    <a:p>
                      <a:pPr marL="0" algn="ctr" defTabSz="914150" rtl="0" eaLnBrk="1" latinLnBrk="0" hangingPunct="1"/>
                      <a:r>
                        <a:rPr kumimoji="1" lang="en-US" sz="2800" kern="1200">
                          <a:solidFill>
                            <a:srgbClr val="FFFFFF"/>
                          </a:solidFill>
                        </a:rPr>
                        <a:t>Katelyn Connelly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787341"/>
                  </a:ext>
                </a:extLst>
              </a:tr>
              <a:tr h="68312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rgbClr val="34373F"/>
                          </a:solidFill>
                        </a:rPr>
                        <a:t>Researcher with experiences in clinical trial</a:t>
                      </a:r>
                      <a:endParaRPr kumimoji="1" lang="en-US" sz="2000" kern="1200">
                        <a:solidFill>
                          <a:srgbClr val="34373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0806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31B6BD9-9301-B889-3403-9C4F6877B9B8}"/>
              </a:ext>
            </a:extLst>
          </p:cNvPr>
          <p:cNvSpPr txBox="1"/>
          <p:nvPr/>
        </p:nvSpPr>
        <p:spPr>
          <a:xfrm>
            <a:off x="5765799" y="2932112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 rtl="0" eaLnBrk="1" latinLnBrk="0" hangingPunct="1">
              <a:buFont typeface="Arial" panose="020B0604020202020204" pitchFamily="34" charset="0"/>
              <a:buChar char="•"/>
            </a:pPr>
            <a:endParaRPr kumimoji="1" lang="en-US" sz="20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algn="l" defTabSz="914150" rtl="0" eaLnBrk="1" latinLnBrk="0" hangingPunct="1">
              <a:buFont typeface="Arial" panose="020B0604020202020204" pitchFamily="34" charset="0"/>
              <a:buChar char="•"/>
            </a:pPr>
            <a:r>
              <a: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 is great potential in scaling the initial screening of eligible patient in clinical trials</a:t>
            </a:r>
          </a:p>
          <a:p>
            <a:pPr marL="171450" indent="-171450" algn="l" defTabSz="914150" rtl="0" eaLnBrk="1" latinLnBrk="0" hangingPunct="1">
              <a:buFont typeface="Arial" panose="020B0604020202020204" pitchFamily="34" charset="0"/>
              <a:buChar char="•"/>
            </a:pPr>
            <a:endParaRPr kumimoji="1"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algn="l" defTabSz="914150" rtl="0" eaLnBrk="1" latinLnBrk="0" hangingPunct="1">
              <a:buFont typeface="Arial" panose="020B0604020202020204" pitchFamily="34" charset="0"/>
              <a:buChar char="•"/>
            </a:pPr>
            <a:r>
              <a: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pathology of AD is controversial, and endpoints are fuzzy</a:t>
            </a:r>
          </a:p>
          <a:p>
            <a:pPr marL="171450" indent="-171450" algn="l" defTabSz="914150" rtl="0" eaLnBrk="1" latinLnBrk="0" hangingPunct="1">
              <a:buFont typeface="Arial" panose="020B0604020202020204" pitchFamily="34" charset="0"/>
              <a:buChar char="•"/>
            </a:pPr>
            <a:endParaRPr kumimoji="1"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algn="l" defTabSz="914150" rtl="0" eaLnBrk="1" latinLnBrk="0" hangingPunct="1">
              <a:buFont typeface="Arial" panose="020B0604020202020204" pitchFamily="34" charset="0"/>
              <a:buChar char="•"/>
            </a:pPr>
            <a:r>
              <a: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Biomarker using MRI and PET very expensive</a:t>
            </a:r>
          </a:p>
          <a:p>
            <a:pPr marL="171450" indent="-171450" algn="l" defTabSz="914150" rtl="0" eaLnBrk="1" latinLnBrk="0" hangingPunct="1">
              <a:buFont typeface="Arial" panose="020B0604020202020204" pitchFamily="34" charset="0"/>
              <a:buChar char="•"/>
            </a:pPr>
            <a:endParaRPr kumimoji="1"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algn="l" rtl="0" eaLnBrk="1" latinLnBrk="0" hangingPunct="1">
              <a:buFont typeface="Arial" panose="020B0604020202020204" pitchFamily="34" charset="0"/>
              <a:buChar char="•"/>
            </a:pPr>
            <a:r>
              <a: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route is to </a:t>
            </a:r>
            <a:r>
              <a:rPr kumimoji="1"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become the standard and seek FDA approval </a:t>
            </a:r>
            <a:r>
              <a: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need expensive clinical trial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kumimoji="1"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84739FA7-5668-7AA8-1EAD-C1D3CB148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319892"/>
              </p:ext>
            </p:extLst>
          </p:nvPr>
        </p:nvGraphicFramePr>
        <p:xfrm>
          <a:off x="6505497" y="944247"/>
          <a:ext cx="4616605" cy="83958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616605">
                  <a:extLst>
                    <a:ext uri="{9D8B030D-6E8A-4147-A177-3AD203B41FA5}">
                      <a16:colId xmlns:a16="http://schemas.microsoft.com/office/drawing/2014/main" val="1914008165"/>
                    </a:ext>
                  </a:extLst>
                </a:gridCol>
              </a:tblGrid>
              <a:tr h="839584">
                <a:tc>
                  <a:txBody>
                    <a:bodyPr/>
                    <a:lstStyle/>
                    <a:p>
                      <a:pPr algn="ctr"/>
                      <a:r>
                        <a:rPr lang="en-US" sz="3600"/>
                        <a:t>Key learnings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361517"/>
                  </a:ext>
                </a:extLst>
              </a:tr>
            </a:tbl>
          </a:graphicData>
        </a:graphic>
      </p:graphicFrame>
      <p:pic>
        <p:nvPicPr>
          <p:cNvPr id="5" name="Picture 5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07AACAEF-4D2C-CDAF-67D2-AE313CA3B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175" y="809587"/>
            <a:ext cx="2592173" cy="334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47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CD0AD2-B621-4022-C094-DE9A77FF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41" y="143714"/>
            <a:ext cx="9940253" cy="685801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Proxima Nova"/>
                <a:ea typeface="メイリオ"/>
                <a:cs typeface="Calibri"/>
              </a:rPr>
              <a:t>Key Learnings from top 3 Interviews </a:t>
            </a:r>
            <a:endParaRPr lang="en-US">
              <a:ea typeface="メイリオ"/>
              <a:cs typeface="Calibri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611A0E0-D8B1-0552-490A-5715D8235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42692"/>
              </p:ext>
            </p:extLst>
          </p:nvPr>
        </p:nvGraphicFramePr>
        <p:xfrm>
          <a:off x="6910173" y="762000"/>
          <a:ext cx="4616605" cy="68580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616605">
                  <a:extLst>
                    <a:ext uri="{9D8B030D-6E8A-4147-A177-3AD203B41FA5}">
                      <a16:colId xmlns:a16="http://schemas.microsoft.com/office/drawing/2014/main" val="1914008165"/>
                    </a:ext>
                  </a:extLst>
                </a:gridCol>
              </a:tblGrid>
              <a:tr h="685801">
                <a:tc>
                  <a:txBody>
                    <a:bodyPr/>
                    <a:lstStyle/>
                    <a:p>
                      <a:pPr algn="ctr"/>
                      <a:r>
                        <a:rPr lang="en-US" sz="3600"/>
                        <a:t>Key learnings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3615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986811-C623-3699-28C8-DA6C74690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540730"/>
              </p:ext>
            </p:extLst>
          </p:nvPr>
        </p:nvGraphicFramePr>
        <p:xfrm>
          <a:off x="1126307" y="3806647"/>
          <a:ext cx="4462574" cy="2058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2574">
                  <a:extLst>
                    <a:ext uri="{9D8B030D-6E8A-4147-A177-3AD203B41FA5}">
                      <a16:colId xmlns:a16="http://schemas.microsoft.com/office/drawing/2014/main" val="515282060"/>
                    </a:ext>
                  </a:extLst>
                </a:gridCol>
              </a:tblGrid>
              <a:tr h="703088">
                <a:tc>
                  <a:txBody>
                    <a:bodyPr/>
                    <a:lstStyle/>
                    <a:p>
                      <a:pPr algn="ctr" rtl="0" fontAlgn="base"/>
                      <a:r>
                        <a:rPr kumimoji="1" lang="en-US" sz="1867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William </a:t>
                      </a:r>
                      <a:r>
                        <a:rPr kumimoji="1" lang="en-US" sz="1867" b="1" i="0" u="none" strike="noStrike" kern="120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Souillard</a:t>
                      </a:r>
                      <a:r>
                        <a:rPr kumimoji="1" lang="en-US" sz="1867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-Mandar</a:t>
                      </a:r>
                      <a:endParaRPr lang="en-US" sz="32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641945"/>
                  </a:ext>
                </a:extLst>
              </a:tr>
              <a:tr h="1355349">
                <a:tc>
                  <a:txBody>
                    <a:bodyPr/>
                    <a:lstStyle/>
                    <a:p>
                      <a:pPr algn="ctr" rtl="0" fontAlgn="base"/>
                      <a:r>
                        <a:rPr kumimoji="1" lang="en-US" sz="1867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Mentor</a:t>
                      </a:r>
                    </a:p>
                    <a:p>
                      <a:pPr algn="ctr" rtl="0" fontAlgn="base"/>
                      <a:r>
                        <a:rPr kumimoji="1" lang="en-US" sz="1867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&amp; Neuroscience | Investor | MIT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2406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D8E951-AD75-09B7-38E9-26A6F921BBB4}"/>
              </a:ext>
            </a:extLst>
          </p:cNvPr>
          <p:cNvSpPr txBox="1"/>
          <p:nvPr/>
        </p:nvSpPr>
        <p:spPr>
          <a:xfrm>
            <a:off x="6472291" y="2608172"/>
            <a:ext cx="523071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Calibri"/>
                <a:cs typeface="Arial"/>
              </a:rPr>
              <a:t>Voice as biomarker has great potential in scaling the initial screening of eligible patient for clinical trial</a:t>
            </a:r>
          </a:p>
          <a:p>
            <a:pPr>
              <a:buFont typeface="Arial"/>
              <a:buChar char="•"/>
            </a:pPr>
            <a:endParaRPr lang="en-US" sz="2000">
              <a:ea typeface="Calibri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Calibri"/>
                <a:cs typeface="Arial"/>
              </a:rPr>
              <a:t>The pathogen of AD is controversial and endpoint is fuzzy, finding the ground truth is challenging</a:t>
            </a:r>
          </a:p>
          <a:p>
            <a:pPr>
              <a:buFont typeface="Arial"/>
              <a:buChar char="•"/>
            </a:pPr>
            <a:endParaRPr lang="en-US" sz="2000">
              <a:ea typeface="Calibri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Calibri"/>
                <a:cs typeface="Arial"/>
              </a:rPr>
              <a:t>A route is to become the standard thru FDA approval</a:t>
            </a:r>
          </a:p>
        </p:txBody>
      </p:sp>
      <p:pic>
        <p:nvPicPr>
          <p:cNvPr id="11" name="Picture 10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9CE04BEE-8A9A-5FB2-F4FF-67B12DF5C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593" y="921265"/>
            <a:ext cx="2876148" cy="27103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D3E7B7-7EF7-1EC0-1E09-1391DA83766F}"/>
              </a:ext>
            </a:extLst>
          </p:cNvPr>
          <p:cNvSpPr txBox="1"/>
          <p:nvPr/>
        </p:nvSpPr>
        <p:spPr>
          <a:xfrm>
            <a:off x="7812505" y="1808449"/>
            <a:ext cx="306580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0" eaLnBrk="1" latinLnBrk="0" hangingPunct="1"/>
            <a:r>
              <a:rPr kumimoji="1" lang="en-US" sz="1800" b="1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“Pharma can be the primary buyer”</a:t>
            </a:r>
          </a:p>
        </p:txBody>
      </p:sp>
    </p:spTree>
    <p:extLst>
      <p:ext uri="{BB962C8B-B14F-4D97-AF65-F5344CB8AC3E}">
        <p14:creationId xmlns:p14="http://schemas.microsoft.com/office/powerpoint/2010/main" val="177309197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258DC32-8485-A277-B2EB-84782774A548}"/>
              </a:ext>
            </a:extLst>
          </p:cNvPr>
          <p:cNvGrpSpPr/>
          <p:nvPr/>
        </p:nvGrpSpPr>
        <p:grpSpPr>
          <a:xfrm>
            <a:off x="7321670" y="2632527"/>
            <a:ext cx="4000821" cy="2367138"/>
            <a:chOff x="7321670" y="2469967"/>
            <a:chExt cx="4000821" cy="236713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4BAC3B-B7DC-CC89-78B7-B3083A44DAD3}"/>
                </a:ext>
              </a:extLst>
            </p:cNvPr>
            <p:cNvCxnSpPr>
              <a:cxnSpLocks/>
            </p:cNvCxnSpPr>
            <p:nvPr/>
          </p:nvCxnSpPr>
          <p:spPr>
            <a:xfrm>
              <a:off x="7321670" y="4313938"/>
              <a:ext cx="3057740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F57DBE2-8F23-8019-6F4F-0E3A9872360B}"/>
                </a:ext>
              </a:extLst>
            </p:cNvPr>
            <p:cNvGrpSpPr/>
            <p:nvPr/>
          </p:nvGrpSpPr>
          <p:grpSpPr>
            <a:xfrm>
              <a:off x="9727462" y="2469967"/>
              <a:ext cx="1595029" cy="2367138"/>
              <a:chOff x="9727462" y="2469967"/>
              <a:chExt cx="1595029" cy="2367138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0FE6EF1-8262-9F4A-2FE3-58599A4C86D5}"/>
                  </a:ext>
                </a:extLst>
              </p:cNvPr>
              <p:cNvSpPr txBox="1"/>
              <p:nvPr/>
            </p:nvSpPr>
            <p:spPr>
              <a:xfrm>
                <a:off x="9882097" y="4467773"/>
                <a:ext cx="1440394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en-GB" b="1"/>
                  <a:t>Data analysis</a:t>
                </a:r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2CEFC123-3F88-4E51-A100-98B944002A99}"/>
                  </a:ext>
                </a:extLst>
              </p:cNvPr>
              <p:cNvSpPr/>
              <p:nvPr/>
            </p:nvSpPr>
            <p:spPr>
              <a:xfrm>
                <a:off x="10255870" y="4169630"/>
                <a:ext cx="288617" cy="288617"/>
              </a:xfrm>
              <a:prstGeom prst="ellipse">
                <a:avLst/>
              </a:prstGeom>
              <a:solidFill>
                <a:schemeClr val="accent3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GB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ABCCCDE-6877-9318-9BEB-1C8E120CE349}"/>
                  </a:ext>
                </a:extLst>
              </p:cNvPr>
              <p:cNvGrpSpPr/>
              <p:nvPr/>
            </p:nvGrpSpPr>
            <p:grpSpPr>
              <a:xfrm>
                <a:off x="9727462" y="2469967"/>
                <a:ext cx="1325460" cy="1325460"/>
                <a:chOff x="8536837" y="2498851"/>
                <a:chExt cx="1325460" cy="1325460"/>
              </a:xfrm>
            </p:grpSpPr>
            <p:sp>
              <p:nvSpPr>
                <p:cNvPr id="49" name="Teardrop 48">
                  <a:extLst>
                    <a:ext uri="{FF2B5EF4-FFF2-40B4-BE49-F238E27FC236}">
                      <a16:creationId xmlns:a16="http://schemas.microsoft.com/office/drawing/2014/main" id="{DB030040-DC89-3E4D-47AB-4D157637BBA2}"/>
                    </a:ext>
                  </a:extLst>
                </p:cNvPr>
                <p:cNvSpPr/>
                <p:nvPr/>
              </p:nvSpPr>
              <p:spPr>
                <a:xfrm rot="8100000">
                  <a:off x="8536837" y="2498851"/>
                  <a:ext cx="1325460" cy="1325460"/>
                </a:xfrm>
                <a:prstGeom prst="teardrop">
                  <a:avLst/>
                </a:prstGeom>
                <a:solidFill>
                  <a:schemeClr val="accent3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944D97B-3DC7-BA06-F978-C5F69AE2A619}"/>
                    </a:ext>
                  </a:extLst>
                </p:cNvPr>
                <p:cNvSpPr/>
                <p:nvPr/>
              </p:nvSpPr>
              <p:spPr>
                <a:xfrm>
                  <a:off x="8719564" y="2695690"/>
                  <a:ext cx="964487" cy="96448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</p:grpSp>
          <p:pic>
            <p:nvPicPr>
              <p:cNvPr id="59" name="Graphic 58" descr="Hourglass 30% with solid fill">
                <a:extLst>
                  <a:ext uri="{FF2B5EF4-FFF2-40B4-BE49-F238E27FC236}">
                    <a16:creationId xmlns:a16="http://schemas.microsoft.com/office/drawing/2014/main" id="{F2DAE107-1F9F-FBF7-4F0F-6D17F4386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044536" y="2790809"/>
                <a:ext cx="691311" cy="691311"/>
              </a:xfrm>
              <a:prstGeom prst="rect">
                <a:avLst/>
              </a:prstGeom>
            </p:spPr>
          </p:pic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622B0D3-FFA8-67F0-05C0-BA20B1171C7B}"/>
              </a:ext>
            </a:extLst>
          </p:cNvPr>
          <p:cNvGrpSpPr/>
          <p:nvPr/>
        </p:nvGrpSpPr>
        <p:grpSpPr>
          <a:xfrm>
            <a:off x="-364776" y="2632527"/>
            <a:ext cx="10048927" cy="2400660"/>
            <a:chOff x="-364776" y="2469967"/>
            <a:chExt cx="10048927" cy="240066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1ACE1AB-8DA1-38CB-4182-685505EEF491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V="1">
              <a:off x="1166768" y="4313939"/>
              <a:ext cx="6299211" cy="147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2D7CB0B-FBA6-084C-68F6-20C13385C383}"/>
                </a:ext>
              </a:extLst>
            </p:cNvPr>
            <p:cNvGrpSpPr/>
            <p:nvPr/>
          </p:nvGrpSpPr>
          <p:grpSpPr>
            <a:xfrm>
              <a:off x="532408" y="2469967"/>
              <a:ext cx="1325460" cy="1325460"/>
              <a:chOff x="532408" y="2469967"/>
              <a:chExt cx="1325460" cy="1325460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754D589D-5CB3-7A7A-F148-B415A365DF09}"/>
                  </a:ext>
                </a:extLst>
              </p:cNvPr>
              <p:cNvGrpSpPr/>
              <p:nvPr/>
            </p:nvGrpSpPr>
            <p:grpSpPr>
              <a:xfrm>
                <a:off x="532408" y="2469967"/>
                <a:ext cx="1325460" cy="1325460"/>
                <a:chOff x="532408" y="2498851"/>
                <a:chExt cx="1325460" cy="1325460"/>
              </a:xfrm>
            </p:grpSpPr>
            <p:sp>
              <p:nvSpPr>
                <p:cNvPr id="19" name="Teardrop 18">
                  <a:extLst>
                    <a:ext uri="{FF2B5EF4-FFF2-40B4-BE49-F238E27FC236}">
                      <a16:creationId xmlns:a16="http://schemas.microsoft.com/office/drawing/2014/main" id="{A1AB623F-61BD-D488-C9E1-D66F37B8AB87}"/>
                    </a:ext>
                  </a:extLst>
                </p:cNvPr>
                <p:cNvSpPr/>
                <p:nvPr/>
              </p:nvSpPr>
              <p:spPr>
                <a:xfrm rot="8100000">
                  <a:off x="532408" y="2498851"/>
                  <a:ext cx="1325460" cy="1325460"/>
                </a:xfrm>
                <a:prstGeom prst="teardrop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B09275C-961B-B63E-F9B8-7691B2E2EED0}"/>
                    </a:ext>
                  </a:extLst>
                </p:cNvPr>
                <p:cNvSpPr/>
                <p:nvPr/>
              </p:nvSpPr>
              <p:spPr>
                <a:xfrm>
                  <a:off x="715135" y="2702681"/>
                  <a:ext cx="964487" cy="96448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</p:grpSp>
          <p:pic>
            <p:nvPicPr>
              <p:cNvPr id="22" name="Graphic 21" descr="Statistics with solid fill">
                <a:extLst>
                  <a:ext uri="{FF2B5EF4-FFF2-40B4-BE49-F238E27FC236}">
                    <a16:creationId xmlns:a16="http://schemas.microsoft.com/office/drawing/2014/main" id="{3AE63711-90A9-CC25-0B30-3238910FC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3520" y="2835436"/>
                <a:ext cx="686498" cy="686498"/>
              </a:xfrm>
              <a:prstGeom prst="rect">
                <a:avLst/>
              </a:prstGeom>
            </p:spPr>
          </p:pic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402DBFA-9FB9-C7C2-A921-08E78F48A93C}"/>
                </a:ext>
              </a:extLst>
            </p:cNvPr>
            <p:cNvSpPr/>
            <p:nvPr/>
          </p:nvSpPr>
          <p:spPr>
            <a:xfrm>
              <a:off x="1048755" y="4169630"/>
              <a:ext cx="288617" cy="288617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GB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393C8D-F0C6-40FB-DAEE-49552659E3CF}"/>
                </a:ext>
              </a:extLst>
            </p:cNvPr>
            <p:cNvSpPr txBox="1"/>
            <p:nvPr/>
          </p:nvSpPr>
          <p:spPr>
            <a:xfrm>
              <a:off x="-364776" y="4501295"/>
              <a:ext cx="3244473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GB" b="1">
                  <a:cs typeface="Calibri"/>
                </a:rPr>
                <a:t>Clinical trial design</a:t>
              </a:r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67FC374-347F-3901-1436-E43B1E1AA872}"/>
                </a:ext>
              </a:extLst>
            </p:cNvPr>
            <p:cNvSpPr/>
            <p:nvPr/>
          </p:nvSpPr>
          <p:spPr>
            <a:xfrm>
              <a:off x="4125410" y="4169630"/>
              <a:ext cx="288617" cy="288617"/>
            </a:xfrm>
            <a:prstGeom prst="ellipse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GB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AA8C902-BCC9-278C-ACCA-D98FB40DA2ED}"/>
                </a:ext>
              </a:extLst>
            </p:cNvPr>
            <p:cNvSpPr txBox="1"/>
            <p:nvPr/>
          </p:nvSpPr>
          <p:spPr>
            <a:xfrm>
              <a:off x="3160136" y="4479757"/>
              <a:ext cx="2105256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en-GB" b="1">
                  <a:cs typeface="Calibri"/>
                </a:rPr>
                <a:t>Patient Recruitment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4B08B11-1137-01C1-8B7C-3D39910926F9}"/>
                </a:ext>
              </a:extLst>
            </p:cNvPr>
            <p:cNvGrpSpPr/>
            <p:nvPr/>
          </p:nvGrpSpPr>
          <p:grpSpPr>
            <a:xfrm>
              <a:off x="3597426" y="2469967"/>
              <a:ext cx="1325460" cy="1325460"/>
              <a:chOff x="3200551" y="2469967"/>
              <a:chExt cx="1325460" cy="132546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B8F9FB0-FAB0-7722-2337-C87E62C8BF0D}"/>
                  </a:ext>
                </a:extLst>
              </p:cNvPr>
              <p:cNvGrpSpPr/>
              <p:nvPr/>
            </p:nvGrpSpPr>
            <p:grpSpPr>
              <a:xfrm>
                <a:off x="3200551" y="2469967"/>
                <a:ext cx="1325460" cy="1325460"/>
                <a:chOff x="2869180" y="2477832"/>
                <a:chExt cx="1325460" cy="1325460"/>
              </a:xfrm>
            </p:grpSpPr>
            <p:sp>
              <p:nvSpPr>
                <p:cNvPr id="29" name="Teardrop 28">
                  <a:extLst>
                    <a:ext uri="{FF2B5EF4-FFF2-40B4-BE49-F238E27FC236}">
                      <a16:creationId xmlns:a16="http://schemas.microsoft.com/office/drawing/2014/main" id="{46F66603-D295-6E5B-57B3-DD13645B4CEE}"/>
                    </a:ext>
                  </a:extLst>
                </p:cNvPr>
                <p:cNvSpPr/>
                <p:nvPr/>
              </p:nvSpPr>
              <p:spPr>
                <a:xfrm rot="8100000">
                  <a:off x="2869180" y="2477832"/>
                  <a:ext cx="1325460" cy="1325460"/>
                </a:xfrm>
                <a:prstGeom prst="teardrop">
                  <a:avLst/>
                </a:prstGeom>
                <a:solidFill>
                  <a:schemeClr val="accent4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59577ACA-03EE-419A-E34F-9504F1356630}"/>
                    </a:ext>
                  </a:extLst>
                </p:cNvPr>
                <p:cNvSpPr/>
                <p:nvPr/>
              </p:nvSpPr>
              <p:spPr>
                <a:xfrm>
                  <a:off x="3051522" y="2684297"/>
                  <a:ext cx="964487" cy="96448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BBBC64E-68E0-0C2D-0F3C-51F82964C08F}"/>
                  </a:ext>
                </a:extLst>
              </p:cNvPr>
              <p:cNvGrpSpPr/>
              <p:nvPr/>
            </p:nvGrpSpPr>
            <p:grpSpPr>
              <a:xfrm>
                <a:off x="3348742" y="2754536"/>
                <a:ext cx="985157" cy="732086"/>
                <a:chOff x="3036851" y="2885798"/>
                <a:chExt cx="985157" cy="732086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61A1EBAF-5B43-0E15-589E-3F0907A958AE}"/>
                    </a:ext>
                  </a:extLst>
                </p:cNvPr>
                <p:cNvGrpSpPr/>
                <p:nvPr/>
              </p:nvGrpSpPr>
              <p:grpSpPr>
                <a:xfrm>
                  <a:off x="3411010" y="3006886"/>
                  <a:ext cx="610998" cy="610998"/>
                  <a:chOff x="5222296" y="2869807"/>
                  <a:chExt cx="610998" cy="61099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F6789D3-8BCD-4B03-409B-BBD853D210B7}"/>
                      </a:ext>
                    </a:extLst>
                  </p:cNvPr>
                  <p:cNvSpPr/>
                  <p:nvPr/>
                </p:nvSpPr>
                <p:spPr>
                  <a:xfrm rot="900000">
                    <a:off x="5339945" y="2936374"/>
                    <a:ext cx="375698" cy="504686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kumimoji="1" lang="en-GB"/>
                  </a:p>
                </p:txBody>
              </p:sp>
              <p:pic>
                <p:nvPicPr>
                  <p:cNvPr id="34" name="Graphic 33" descr="List with solid fill">
                    <a:extLst>
                      <a:ext uri="{FF2B5EF4-FFF2-40B4-BE49-F238E27FC236}">
                        <a16:creationId xmlns:a16="http://schemas.microsoft.com/office/drawing/2014/main" id="{1996186D-827A-388C-FDCB-EFA6657DC1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 rot="900000">
                    <a:off x="5222296" y="2869807"/>
                    <a:ext cx="610998" cy="61099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47E2906D-6217-E65C-D042-84FAF34D83A4}"/>
                    </a:ext>
                  </a:extLst>
                </p:cNvPr>
                <p:cNvGrpSpPr/>
                <p:nvPr/>
              </p:nvGrpSpPr>
              <p:grpSpPr>
                <a:xfrm>
                  <a:off x="3036851" y="3000432"/>
                  <a:ext cx="610998" cy="610998"/>
                  <a:chOff x="4415281" y="2855732"/>
                  <a:chExt cx="610998" cy="610998"/>
                </a:xfrm>
              </p:grpSpPr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5AF80E44-49FF-7A41-CB05-29732A9E8BE7}"/>
                      </a:ext>
                    </a:extLst>
                  </p:cNvPr>
                  <p:cNvSpPr/>
                  <p:nvPr/>
                </p:nvSpPr>
                <p:spPr>
                  <a:xfrm rot="20626915">
                    <a:off x="4526632" y="2908081"/>
                    <a:ext cx="375698" cy="504686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kumimoji="1" lang="en-GB"/>
                  </a:p>
                </p:txBody>
              </p:sp>
              <p:pic>
                <p:nvPicPr>
                  <p:cNvPr id="36" name="Graphic 35" descr="List with solid fill">
                    <a:extLst>
                      <a:ext uri="{FF2B5EF4-FFF2-40B4-BE49-F238E27FC236}">
                        <a16:creationId xmlns:a16="http://schemas.microsoft.com/office/drawing/2014/main" id="{F3E3E6F7-9721-570E-1D13-3D367679F9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 rot="20700000">
                    <a:off x="4415281" y="2855732"/>
                    <a:ext cx="610998" cy="61099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24BE5CBF-1479-FC01-5C91-E4BDBA2AD9D2}"/>
                    </a:ext>
                  </a:extLst>
                </p:cNvPr>
                <p:cNvGrpSpPr/>
                <p:nvPr/>
              </p:nvGrpSpPr>
              <p:grpSpPr>
                <a:xfrm>
                  <a:off x="3255454" y="2885798"/>
                  <a:ext cx="610998" cy="610998"/>
                  <a:chOff x="4818788" y="2791030"/>
                  <a:chExt cx="610998" cy="610998"/>
                </a:xfrm>
              </p:grpSpPr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0799210B-F55A-5D78-E512-0416D4EA5421}"/>
                      </a:ext>
                    </a:extLst>
                  </p:cNvPr>
                  <p:cNvSpPr/>
                  <p:nvPr/>
                </p:nvSpPr>
                <p:spPr>
                  <a:xfrm>
                    <a:off x="4931244" y="2848018"/>
                    <a:ext cx="375698" cy="504686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kumimoji="1" lang="en-GB"/>
                  </a:p>
                </p:txBody>
              </p:sp>
              <p:pic>
                <p:nvPicPr>
                  <p:cNvPr id="35" name="Graphic 34" descr="List with solid fill">
                    <a:extLst>
                      <a:ext uri="{FF2B5EF4-FFF2-40B4-BE49-F238E27FC236}">
                        <a16:creationId xmlns:a16="http://schemas.microsoft.com/office/drawing/2014/main" id="{7BD19857-D370-ED23-4BDA-FADC131793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818788" y="2791030"/>
                    <a:ext cx="610998" cy="610998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2F2B3FF-705D-0D33-3E1C-B2E0E9AA7F26}"/>
                </a:ext>
              </a:extLst>
            </p:cNvPr>
            <p:cNvSpPr/>
            <p:nvPr/>
          </p:nvSpPr>
          <p:spPr>
            <a:xfrm>
              <a:off x="7177362" y="4169630"/>
              <a:ext cx="288617" cy="288617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F9F071D-4894-A3E4-DCD1-CC5A9B2B5774}"/>
                </a:ext>
              </a:extLst>
            </p:cNvPr>
            <p:cNvSpPr txBox="1"/>
            <p:nvPr/>
          </p:nvSpPr>
          <p:spPr>
            <a:xfrm>
              <a:off x="5230323" y="4467773"/>
              <a:ext cx="4453828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GB" b="1">
                  <a:cs typeface="Calibri"/>
                </a:rPr>
                <a:t>Follow up &amp; data collection</a:t>
              </a:r>
              <a:endParaRPr lang="en-GB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C0568CD-7CFB-799F-6F82-4D57169F442A}"/>
                </a:ext>
              </a:extLst>
            </p:cNvPr>
            <p:cNvGrpSpPr/>
            <p:nvPr/>
          </p:nvGrpSpPr>
          <p:grpSpPr>
            <a:xfrm>
              <a:off x="6662444" y="2469967"/>
              <a:ext cx="1325460" cy="1325460"/>
              <a:chOff x="5868694" y="2469967"/>
              <a:chExt cx="1325460" cy="1325460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C6BEB70D-D293-8B0B-7F7F-79328740713D}"/>
                  </a:ext>
                </a:extLst>
              </p:cNvPr>
              <p:cNvGrpSpPr/>
              <p:nvPr/>
            </p:nvGrpSpPr>
            <p:grpSpPr>
              <a:xfrm>
                <a:off x="5868694" y="2469967"/>
                <a:ext cx="1325460" cy="1325460"/>
                <a:chOff x="5001384" y="2469967"/>
                <a:chExt cx="1325460" cy="1325460"/>
              </a:xfrm>
            </p:grpSpPr>
            <p:sp>
              <p:nvSpPr>
                <p:cNvPr id="43" name="Teardrop 42">
                  <a:extLst>
                    <a:ext uri="{FF2B5EF4-FFF2-40B4-BE49-F238E27FC236}">
                      <a16:creationId xmlns:a16="http://schemas.microsoft.com/office/drawing/2014/main" id="{F1D94522-E11C-A00D-4965-F4174AC40C6E}"/>
                    </a:ext>
                  </a:extLst>
                </p:cNvPr>
                <p:cNvSpPr/>
                <p:nvPr/>
              </p:nvSpPr>
              <p:spPr>
                <a:xfrm rot="8100000">
                  <a:off x="5001384" y="2469967"/>
                  <a:ext cx="1325460" cy="1325460"/>
                </a:xfrm>
                <a:prstGeom prst="teardrop">
                  <a:avLst/>
                </a:prstGeom>
                <a:solidFill>
                  <a:schemeClr val="accent2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158086F0-F79F-4D08-4078-A7A7AE2D992F}"/>
                    </a:ext>
                  </a:extLst>
                </p:cNvPr>
                <p:cNvSpPr/>
                <p:nvPr/>
              </p:nvSpPr>
              <p:spPr>
                <a:xfrm>
                  <a:off x="5184111" y="2673797"/>
                  <a:ext cx="964487" cy="96448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rtlCol="0" anchor="ctr"/>
                <a:lstStyle/>
                <a:p>
                  <a:pPr algn="ctr"/>
                  <a:endParaRPr kumimoji="1" lang="en-GB"/>
                </a:p>
              </p:txBody>
            </p:sp>
          </p:grpSp>
          <p:pic>
            <p:nvPicPr>
              <p:cNvPr id="48" name="Graphic 47" descr="Zoom in with solid fill">
                <a:extLst>
                  <a:ext uri="{FF2B5EF4-FFF2-40B4-BE49-F238E27FC236}">
                    <a16:creationId xmlns:a16="http://schemas.microsoft.com/office/drawing/2014/main" id="{235C2033-64EC-6274-30FB-B83EDA0D7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208082" y="2835436"/>
                <a:ext cx="646684" cy="646684"/>
              </a:xfrm>
              <a:prstGeom prst="rect">
                <a:avLst/>
              </a:prstGeom>
            </p:spPr>
          </p:pic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464CDC-E463-6293-0C61-390EE418D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9230" y="6573801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10</a:t>
            </a:fld>
            <a:endParaRPr lang="ja-JP" altLang="en-US"/>
          </a:p>
        </p:txBody>
      </p:sp>
      <p:sp>
        <p:nvSpPr>
          <p:cNvPr id="16" name="Title 8">
            <a:extLst>
              <a:ext uri="{FF2B5EF4-FFF2-40B4-BE49-F238E27FC236}">
                <a16:creationId xmlns:a16="http://schemas.microsoft.com/office/drawing/2014/main" id="{0584DC06-AA28-427D-CE2F-EAEEEC9F22F2}"/>
              </a:ext>
            </a:extLst>
          </p:cNvPr>
          <p:cNvSpPr txBox="1">
            <a:spLocks/>
          </p:cNvSpPr>
          <p:nvPr/>
        </p:nvSpPr>
        <p:spPr>
          <a:xfrm>
            <a:off x="606078" y="161605"/>
            <a:ext cx="10370860" cy="6858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15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kumimoji="1" sz="2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endParaRPr lang="en-GB" sz="25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C418D0E-CC35-B380-BA3F-2194AFDA92C4}"/>
              </a:ext>
            </a:extLst>
          </p:cNvPr>
          <p:cNvSpPr txBox="1"/>
          <p:nvPr/>
        </p:nvSpPr>
        <p:spPr>
          <a:xfrm>
            <a:off x="4724400" y="336296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96674AF-79B1-1386-49F6-AD7C50913DB4}"/>
              </a:ext>
            </a:extLst>
          </p:cNvPr>
          <p:cNvSpPr txBox="1"/>
          <p:nvPr/>
        </p:nvSpPr>
        <p:spPr>
          <a:xfrm>
            <a:off x="4867275" y="350583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AAEC51F-46EB-ED82-9EDC-43D610C48589}"/>
              </a:ext>
            </a:extLst>
          </p:cNvPr>
          <p:cNvSpPr txBox="1"/>
          <p:nvPr/>
        </p:nvSpPr>
        <p:spPr>
          <a:xfrm>
            <a:off x="5010150" y="364871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6AB612B-0718-F048-72CC-2524E4CF0E6D}"/>
              </a:ext>
            </a:extLst>
          </p:cNvPr>
          <p:cNvSpPr txBox="1"/>
          <p:nvPr/>
        </p:nvSpPr>
        <p:spPr>
          <a:xfrm>
            <a:off x="5153025" y="379158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3" name="Title 6">
            <a:extLst>
              <a:ext uri="{FF2B5EF4-FFF2-40B4-BE49-F238E27FC236}">
                <a16:creationId xmlns:a16="http://schemas.microsoft.com/office/drawing/2014/main" id="{D3876709-2DEE-D1F4-77D0-B1607B91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88" y="183974"/>
            <a:ext cx="9940253" cy="685801"/>
          </a:xfrm>
        </p:spPr>
        <p:txBody>
          <a:bodyPr/>
          <a:lstStyle/>
          <a:p>
            <a:r>
              <a:rPr lang="en-US"/>
              <a:t>Problem and Unmet Need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14E55D9-A630-FB1D-D587-EE34827215B0}"/>
              </a:ext>
            </a:extLst>
          </p:cNvPr>
          <p:cNvCxnSpPr/>
          <p:nvPr/>
        </p:nvCxnSpPr>
        <p:spPr>
          <a:xfrm flipH="1" flipV="1">
            <a:off x="2722880" y="2402840"/>
            <a:ext cx="0" cy="2052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: Rounded Corners 7">
            <a:extLst>
              <a:ext uri="{FF2B5EF4-FFF2-40B4-BE49-F238E27FC236}">
                <a16:creationId xmlns:a16="http://schemas.microsoft.com/office/drawing/2014/main" id="{3CDD7243-E177-6F1F-8F00-90EC6C8696CA}"/>
              </a:ext>
            </a:extLst>
          </p:cNvPr>
          <p:cNvSpPr/>
          <p:nvPr/>
        </p:nvSpPr>
        <p:spPr>
          <a:xfrm>
            <a:off x="326979" y="1181913"/>
            <a:ext cx="4826044" cy="1217416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Placeholder 6">
            <a:extLst>
              <a:ext uri="{FF2B5EF4-FFF2-40B4-BE49-F238E27FC236}">
                <a16:creationId xmlns:a16="http://schemas.microsoft.com/office/drawing/2014/main" id="{46B05D8E-6AA4-06F1-4723-02BA1DA2F16F}"/>
              </a:ext>
            </a:extLst>
          </p:cNvPr>
          <p:cNvSpPr txBox="1">
            <a:spLocks/>
          </p:cNvSpPr>
          <p:nvPr/>
        </p:nvSpPr>
        <p:spPr>
          <a:xfrm>
            <a:off x="697053" y="957646"/>
            <a:ext cx="3778601" cy="431962"/>
          </a:xfrm>
          <a:prstGeom prst="round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numCol="1" rtlCol="0" anchor="ctr">
            <a:noAutofit/>
          </a:bodyPr>
          <a:lstStyle>
            <a:defPPr>
              <a:defRPr lang="en-US"/>
            </a:defPPr>
            <a:lvl1pPr marR="0" lvl="0" indent="0" defTabSz="914150" fontAlgn="auto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kumimoji="1" b="1" i="0" baseline="0">
                <a:solidFill>
                  <a:srgbClr val="FFFFFF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6pPr>
            <a:lvl7pPr marL="2970986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7pPr>
            <a:lvl8pPr marL="3428061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8pPr>
            <a:lvl9pPr marL="3885142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Screening and identify eligible patients</a:t>
            </a:r>
            <a:endParaRPr lang="en-US" sz="2400">
              <a:solidFill>
                <a:schemeClr val="bg1"/>
              </a:solidFill>
              <a:ea typeface="メイリオ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00F1045-2373-F40A-D53A-C2D5B5ABA8B6}"/>
              </a:ext>
            </a:extLst>
          </p:cNvPr>
          <p:cNvSpPr txBox="1"/>
          <p:nvPr/>
        </p:nvSpPr>
        <p:spPr>
          <a:xfrm>
            <a:off x="349202" y="1353815"/>
            <a:ext cx="4634051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cs typeface="Calibri"/>
              </a:rPr>
              <a:t>Limited tool for massive screening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cs typeface="Calibri"/>
              </a:rPr>
              <a:t>Costly and time-consuming patient selection and recruitment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>
                <a:cs typeface="Calibri"/>
              </a:rPr>
              <a:t>Periodic in-person assessment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C422D26D-F629-7F27-EFE4-17B9C09DDAA5}"/>
              </a:ext>
            </a:extLst>
          </p:cNvPr>
          <p:cNvCxnSpPr>
            <a:cxnSpLocks/>
          </p:cNvCxnSpPr>
          <p:nvPr/>
        </p:nvCxnSpPr>
        <p:spPr>
          <a:xfrm>
            <a:off x="5791200" y="4465320"/>
            <a:ext cx="20320" cy="812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: Rounded Corners 7">
            <a:extLst>
              <a:ext uri="{FF2B5EF4-FFF2-40B4-BE49-F238E27FC236}">
                <a16:creationId xmlns:a16="http://schemas.microsoft.com/office/drawing/2014/main" id="{87D64929-5315-692D-B8C2-0DA2707A6D15}"/>
              </a:ext>
            </a:extLst>
          </p:cNvPr>
          <p:cNvSpPr/>
          <p:nvPr/>
        </p:nvSpPr>
        <p:spPr>
          <a:xfrm>
            <a:off x="3452585" y="5449113"/>
            <a:ext cx="4765084" cy="1217416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Placeholder 6">
            <a:extLst>
              <a:ext uri="{FF2B5EF4-FFF2-40B4-BE49-F238E27FC236}">
                <a16:creationId xmlns:a16="http://schemas.microsoft.com/office/drawing/2014/main" id="{87BB5684-55A6-32F6-7710-56AC82AEE925}"/>
              </a:ext>
            </a:extLst>
          </p:cNvPr>
          <p:cNvSpPr txBox="1">
            <a:spLocks/>
          </p:cNvSpPr>
          <p:nvPr/>
        </p:nvSpPr>
        <p:spPr>
          <a:xfrm>
            <a:off x="4212764" y="5275173"/>
            <a:ext cx="3244473" cy="355776"/>
          </a:xfrm>
          <a:prstGeom prst="round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numCol="1" rtlCol="0" anchor="ctr">
            <a:noAutofit/>
          </a:bodyPr>
          <a:lstStyle>
            <a:defPPr>
              <a:defRPr lang="en-US"/>
            </a:defPPr>
            <a:lvl1pPr marR="0" lvl="0" indent="0" defTabSz="914150" fontAlgn="auto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kumimoji="1" b="1" i="0" baseline="0">
                <a:solidFill>
                  <a:srgbClr val="FFFFFF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6pPr>
            <a:lvl7pPr marL="2970986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7pPr>
            <a:lvl8pPr marL="3428061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8pPr>
            <a:lvl9pPr marL="3885142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sz="2000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Stage assessment 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D7BB1F4-B369-A304-DA09-8D667434B3F4}"/>
              </a:ext>
            </a:extLst>
          </p:cNvPr>
          <p:cNvSpPr txBox="1"/>
          <p:nvPr/>
        </p:nvSpPr>
        <p:spPr>
          <a:xfrm>
            <a:off x="3470387" y="5573182"/>
            <a:ext cx="44258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cs typeface="Calibri"/>
              </a:rPr>
              <a:t>Lack of tool for stage assessment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>
                <a:cs typeface="Calibri"/>
              </a:rPr>
              <a:t>Stage needed for FDA approval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>
                <a:cs typeface="Calibri"/>
              </a:rPr>
              <a:t>Stage progression rate and order vary by patients</a:t>
            </a:r>
          </a:p>
          <a:p>
            <a:pPr marL="742950" lvl="1" indent="-285750">
              <a:buFont typeface="Arial"/>
              <a:buChar char="•"/>
            </a:pPr>
            <a:endParaRPr lang="en-US" sz="1200">
              <a:cs typeface="Calibri"/>
            </a:endParaRPr>
          </a:p>
          <a:p>
            <a:pPr marL="742950" lvl="1" indent="-285750">
              <a:buFont typeface="Arial"/>
              <a:buChar char="•"/>
            </a:pPr>
            <a:endParaRPr lang="en-US" sz="1200">
              <a:cs typeface="Calibri"/>
            </a:endParaRPr>
          </a:p>
        </p:txBody>
      </p:sp>
      <p:sp>
        <p:nvSpPr>
          <p:cNvPr id="195" name="Rectangle: Rounded Corners 7">
            <a:extLst>
              <a:ext uri="{FF2B5EF4-FFF2-40B4-BE49-F238E27FC236}">
                <a16:creationId xmlns:a16="http://schemas.microsoft.com/office/drawing/2014/main" id="{60AA45F9-B557-3DFB-475B-A31E88C1A4A7}"/>
              </a:ext>
            </a:extLst>
          </p:cNvPr>
          <p:cNvSpPr/>
          <p:nvPr/>
        </p:nvSpPr>
        <p:spPr>
          <a:xfrm>
            <a:off x="5592906" y="1183984"/>
            <a:ext cx="5648508" cy="1227576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Text Placeholder 6">
            <a:extLst>
              <a:ext uri="{FF2B5EF4-FFF2-40B4-BE49-F238E27FC236}">
                <a16:creationId xmlns:a16="http://schemas.microsoft.com/office/drawing/2014/main" id="{2A5B55C7-D4AE-D0BE-A8D4-AAC04D25E33D}"/>
              </a:ext>
            </a:extLst>
          </p:cNvPr>
          <p:cNvSpPr txBox="1">
            <a:spLocks/>
          </p:cNvSpPr>
          <p:nvPr/>
        </p:nvSpPr>
        <p:spPr>
          <a:xfrm>
            <a:off x="6383782" y="922841"/>
            <a:ext cx="4233777" cy="431962"/>
          </a:xfrm>
          <a:prstGeom prst="round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numCol="1" rtlCol="0" anchor="ctr">
            <a:noAutofit/>
          </a:bodyPr>
          <a:lstStyle>
            <a:defPPr>
              <a:defRPr lang="en-US"/>
            </a:defPPr>
            <a:lvl1pPr marR="0" lvl="0" indent="0" defTabSz="914150" fontAlgn="auto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kumimoji="1" b="1" i="0" baseline="0">
                <a:solidFill>
                  <a:srgbClr val="FFFFFF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defTabSz="914150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6pPr>
            <a:lvl7pPr marL="2970986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7pPr>
            <a:lvl8pPr marL="3428061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8pPr>
            <a:lvl9pPr marL="3885142" indent="-228541" defTabSz="914150">
              <a:spcBef>
                <a:spcPct val="200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sz="2000">
                <a:solidFill>
                  <a:schemeClr val="bg1"/>
                </a:solidFill>
                <a:latin typeface="Calibri"/>
                <a:ea typeface="メイリオ"/>
                <a:cs typeface="Calibri"/>
              </a:rPr>
              <a:t>Mid-trial de-risk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6BE7B80-45EC-95B3-7530-BE8A41831EE8}"/>
              </a:ext>
            </a:extLst>
          </p:cNvPr>
          <p:cNvSpPr txBox="1"/>
          <p:nvPr/>
        </p:nvSpPr>
        <p:spPr>
          <a:xfrm>
            <a:off x="5628640" y="1330959"/>
            <a:ext cx="593583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cs typeface="Calibri"/>
              </a:rPr>
              <a:t>Patient adherence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>
                <a:cs typeface="Calibri"/>
              </a:rPr>
              <a:t>Need of more accessible assessment tool 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cs typeface="Calibri"/>
              </a:rPr>
              <a:t>RCT midpoint evaluation</a:t>
            </a:r>
            <a:endParaRPr lang="en-US" sz="2000"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cs typeface="Calibri"/>
              </a:rPr>
              <a:t>Provide preview of the efficacy before performing standard tests</a:t>
            </a: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3E1F1609-DB1C-777D-80AB-A25460F7CF6A}"/>
              </a:ext>
            </a:extLst>
          </p:cNvPr>
          <p:cNvCxnSpPr>
            <a:cxnSpLocks/>
          </p:cNvCxnSpPr>
          <p:nvPr/>
        </p:nvCxnSpPr>
        <p:spPr>
          <a:xfrm flipH="1" flipV="1">
            <a:off x="8095129" y="2382520"/>
            <a:ext cx="0" cy="2052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022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A5894A-A771-D893-E4B7-1C3640F8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681" y="711311"/>
            <a:ext cx="9286277" cy="144456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400" b="0"/>
              <a:t>Our primary customer:</a:t>
            </a:r>
            <a:br>
              <a:rPr lang="en-US" sz="2400" b="0"/>
            </a:br>
            <a:r>
              <a:rPr lang="en-US" sz="2400" b="0"/>
              <a:t>Pharmaceutical companies in AD R&amp;D</a:t>
            </a:r>
            <a:br>
              <a:rPr lang="en-US" sz="2400" b="0"/>
            </a:br>
            <a:r>
              <a:rPr lang="en-US" sz="2400" b="0"/>
              <a:t>with the value of scaling &amp; accelerating eligible patient screening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A86E6B-6475-7F5B-A79F-D8DB5324031C}"/>
              </a:ext>
            </a:extLst>
          </p:cNvPr>
          <p:cNvGrpSpPr/>
          <p:nvPr/>
        </p:nvGrpSpPr>
        <p:grpSpPr>
          <a:xfrm>
            <a:off x="266070" y="2403628"/>
            <a:ext cx="11545367" cy="597857"/>
            <a:chOff x="408676" y="1587912"/>
            <a:chExt cx="11545367" cy="59785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D5162C-1F64-BC8E-ABDD-B34CFE695083}"/>
                </a:ext>
              </a:extLst>
            </p:cNvPr>
            <p:cNvGrpSpPr/>
            <p:nvPr/>
          </p:nvGrpSpPr>
          <p:grpSpPr>
            <a:xfrm>
              <a:off x="408676" y="1587912"/>
              <a:ext cx="4621682" cy="597857"/>
              <a:chOff x="408676" y="1587912"/>
              <a:chExt cx="4621682" cy="597857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402E41-7C92-422B-08A3-B9C9AB9CA5E1}"/>
                  </a:ext>
                </a:extLst>
              </p:cNvPr>
              <p:cNvSpPr/>
              <p:nvPr/>
            </p:nvSpPr>
            <p:spPr>
              <a:xfrm>
                <a:off x="408676" y="1587912"/>
                <a:ext cx="621792" cy="597857"/>
              </a:xfrm>
              <a:prstGeom prst="rect">
                <a:avLst/>
              </a:prstGeom>
              <a:solidFill>
                <a:srgbClr val="00486C"/>
              </a:solidFill>
              <a:ln w="25400" cap="flat" cmpd="sng" algn="ctr">
                <a:solidFill>
                  <a:srgbClr val="00486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defTabSz="1219140">
                  <a:defRPr/>
                </a:pPr>
                <a:r>
                  <a:rPr lang="en-US" sz="4267" b="1" kern="0">
                    <a:solidFill>
                      <a:prstClr val="white"/>
                    </a:solidFill>
                    <a:effectLst>
                      <a:innerShdw blurRad="50800">
                        <a:prstClr val="black"/>
                      </a:innerShdw>
                    </a:effectLst>
                    <a:latin typeface="Arial Narrow" panose="020B0606020202030204" pitchFamily="34" charset="0"/>
                  </a:rPr>
                  <a:t>1</a:t>
                </a:r>
              </a:p>
            </p:txBody>
          </p:sp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98D51313-3168-3DB1-788A-62BDE4669B47}"/>
                  </a:ext>
                </a:extLst>
              </p:cNvPr>
              <p:cNvSpPr/>
              <p:nvPr/>
            </p:nvSpPr>
            <p:spPr>
              <a:xfrm rot="16200000">
                <a:off x="582789" y="1738090"/>
                <a:ext cx="597855" cy="297502"/>
              </a:xfrm>
              <a:prstGeom prst="trapezoid">
                <a:avLst>
                  <a:gd name="adj" fmla="val 96948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25400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defTabSz="1219140">
                  <a:defRPr/>
                </a:pPr>
                <a:endParaRPr lang="en-US" sz="2133" b="1" kern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126FD5E-A312-5237-F88B-C09983C49A3E}"/>
                  </a:ext>
                </a:extLst>
              </p:cNvPr>
              <p:cNvSpPr/>
              <p:nvPr/>
            </p:nvSpPr>
            <p:spPr>
              <a:xfrm>
                <a:off x="732964" y="1675978"/>
                <a:ext cx="4297394" cy="405695"/>
              </a:xfrm>
              <a:prstGeom prst="rect">
                <a:avLst/>
              </a:prstGeom>
              <a:solidFill>
                <a:srgbClr val="00486C"/>
              </a:solidFill>
              <a:ln w="25400" cap="flat" cmpd="sng" algn="ctr">
                <a:solidFill>
                  <a:srgbClr val="00486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/>
              <a:lstStyle/>
              <a:p>
                <a:pPr defTabSz="1625478">
                  <a:defRPr/>
                </a:pPr>
                <a:r>
                  <a:rPr lang="en-US" sz="1333" b="1" kern="0">
                    <a:solidFill>
                      <a:prstClr val="white"/>
                    </a:solidFill>
                    <a:latin typeface="Arial"/>
                  </a:rPr>
                  <a:t>  Customer Segments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EFCA94-0E9C-C0CA-05B5-74023BF4673D}"/>
                </a:ext>
              </a:extLst>
            </p:cNvPr>
            <p:cNvGrpSpPr/>
            <p:nvPr/>
          </p:nvGrpSpPr>
          <p:grpSpPr>
            <a:xfrm>
              <a:off x="5127826" y="1587913"/>
              <a:ext cx="3655262" cy="597855"/>
              <a:chOff x="5127826" y="1587913"/>
              <a:chExt cx="3655262" cy="59785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C06599A-6671-B698-5F9F-044F04683B73}"/>
                  </a:ext>
                </a:extLst>
              </p:cNvPr>
              <p:cNvSpPr/>
              <p:nvPr/>
            </p:nvSpPr>
            <p:spPr>
              <a:xfrm>
                <a:off x="5127826" y="1587913"/>
                <a:ext cx="625694" cy="597855"/>
              </a:xfrm>
              <a:prstGeom prst="rect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defTabSz="1219140">
                  <a:defRPr/>
                </a:pPr>
                <a:r>
                  <a:rPr lang="en-US" sz="4267" b="1" kern="0">
                    <a:solidFill>
                      <a:prstClr val="white"/>
                    </a:solidFill>
                    <a:effectLst>
                      <a:innerShdw blurRad="50800">
                        <a:prstClr val="black"/>
                      </a:innerShdw>
                    </a:effectLst>
                    <a:latin typeface="Arial Narrow" panose="020B0606020202030204" pitchFamily="34" charset="0"/>
                  </a:rPr>
                  <a:t>2</a:t>
                </a:r>
              </a:p>
            </p:txBody>
          </p:sp>
          <p:sp>
            <p:nvSpPr>
              <p:cNvPr id="18" name="Trapezoid 17">
                <a:extLst>
                  <a:ext uri="{FF2B5EF4-FFF2-40B4-BE49-F238E27FC236}">
                    <a16:creationId xmlns:a16="http://schemas.microsoft.com/office/drawing/2014/main" id="{D59DECDD-0E88-BDBD-0BBD-27993C4136D7}"/>
                  </a:ext>
                </a:extLst>
              </p:cNvPr>
              <p:cNvSpPr/>
              <p:nvPr/>
            </p:nvSpPr>
            <p:spPr>
              <a:xfrm rot="16200000">
                <a:off x="5345199" y="1782480"/>
                <a:ext cx="597853" cy="208720"/>
              </a:xfrm>
              <a:prstGeom prst="trapezoid">
                <a:avLst>
                  <a:gd name="adj" fmla="val 96948"/>
                </a:avLst>
              </a:prstGeom>
              <a:solidFill>
                <a:schemeClr val="accent6">
                  <a:lumMod val="50000"/>
                </a:schemeClr>
              </a:solidFill>
              <a:ln w="25400" cap="flat" cmpd="sng" algn="ctr">
                <a:solidFill>
                  <a:schemeClr val="accent6">
                    <a:lumMod val="50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defTabSz="1219140">
                  <a:defRPr/>
                </a:pPr>
                <a:endParaRPr lang="en-US" sz="2133" b="1" kern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EAAB5F7-4AD2-216B-FF29-6C89E7D5C22C}"/>
                  </a:ext>
                </a:extLst>
              </p:cNvPr>
              <p:cNvSpPr/>
              <p:nvPr/>
            </p:nvSpPr>
            <p:spPr>
              <a:xfrm>
                <a:off x="5540498" y="1675979"/>
                <a:ext cx="3242590" cy="405694"/>
              </a:xfrm>
              <a:prstGeom prst="rect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/>
              <a:lstStyle/>
              <a:p>
                <a:pPr defTabSz="1625478">
                  <a:defRPr/>
                </a:pPr>
                <a:r>
                  <a:rPr lang="en-US" sz="1333" b="1" kern="0">
                    <a:solidFill>
                      <a:prstClr val="white"/>
                    </a:solidFill>
                    <a:latin typeface="Arial"/>
                  </a:rPr>
                  <a:t>Primary Value Proposition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A30091A-E680-A149-8B76-623994F63B00}"/>
                </a:ext>
              </a:extLst>
            </p:cNvPr>
            <p:cNvGrpSpPr/>
            <p:nvPr/>
          </p:nvGrpSpPr>
          <p:grpSpPr>
            <a:xfrm>
              <a:off x="8924475" y="1587918"/>
              <a:ext cx="3029568" cy="597844"/>
              <a:chOff x="8924475" y="1587918"/>
              <a:chExt cx="3029568" cy="59784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C933-902D-4E9C-9C3B-7C463906B938}"/>
                  </a:ext>
                </a:extLst>
              </p:cNvPr>
              <p:cNvSpPr/>
              <p:nvPr/>
            </p:nvSpPr>
            <p:spPr>
              <a:xfrm>
                <a:off x="8924475" y="1587918"/>
                <a:ext cx="625694" cy="597843"/>
              </a:xfrm>
              <a:prstGeom prst="rect">
                <a:avLst/>
              </a:prstGeom>
              <a:solidFill>
                <a:schemeClr val="accent2"/>
              </a:solidFill>
              <a:ln w="25400" cap="flat" cmpd="sng" algn="ctr">
                <a:solidFill>
                  <a:schemeClr val="accent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defTabSz="1219140">
                  <a:defRPr/>
                </a:pPr>
                <a:r>
                  <a:rPr lang="en-US" sz="4267" b="1" kern="0">
                    <a:solidFill>
                      <a:prstClr val="white"/>
                    </a:solidFill>
                    <a:effectLst>
                      <a:innerShdw blurRad="50800">
                        <a:prstClr val="black"/>
                      </a:innerShdw>
                    </a:effectLst>
                    <a:latin typeface="Arial Narrow" panose="020B0606020202030204" pitchFamily="34" charset="0"/>
                  </a:rPr>
                  <a:t>3</a:t>
                </a:r>
              </a:p>
            </p:txBody>
          </p:sp>
          <p:sp>
            <p:nvSpPr>
              <p:cNvPr id="15" name="Trapezoid 14">
                <a:extLst>
                  <a:ext uri="{FF2B5EF4-FFF2-40B4-BE49-F238E27FC236}">
                    <a16:creationId xmlns:a16="http://schemas.microsoft.com/office/drawing/2014/main" id="{DD2848ED-0C92-6CF4-FAF2-AA16FF7B7970}"/>
                  </a:ext>
                </a:extLst>
              </p:cNvPr>
              <p:cNvSpPr/>
              <p:nvPr/>
            </p:nvSpPr>
            <p:spPr>
              <a:xfrm rot="16200000">
                <a:off x="9153401" y="1780935"/>
                <a:ext cx="597843" cy="211811"/>
              </a:xfrm>
              <a:prstGeom prst="trapezoid">
                <a:avLst>
                  <a:gd name="adj" fmla="val 96948"/>
                </a:avLst>
              </a:prstGeom>
              <a:solidFill>
                <a:schemeClr val="accent4"/>
              </a:solidFill>
              <a:ln w="25400" cap="flat" cmpd="sng" algn="ctr">
                <a:solidFill>
                  <a:schemeClr val="accent4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defTabSz="1219140">
                  <a:defRPr/>
                </a:pPr>
                <a:endParaRPr lang="en-US" sz="2133" b="1" kern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51F0A83-C728-C59C-FFE8-E85BF072303E}"/>
                  </a:ext>
                </a:extLst>
              </p:cNvPr>
              <p:cNvSpPr/>
              <p:nvPr/>
            </p:nvSpPr>
            <p:spPr>
              <a:xfrm>
                <a:off x="9346417" y="1675983"/>
                <a:ext cx="2607626" cy="405687"/>
              </a:xfrm>
              <a:prstGeom prst="rect">
                <a:avLst/>
              </a:prstGeom>
              <a:solidFill>
                <a:schemeClr val="accent2"/>
              </a:solidFill>
              <a:ln w="25400" cap="flat" cmpd="sng" algn="ctr"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/>
              <a:lstStyle/>
              <a:p>
                <a:pPr defTabSz="1625478">
                  <a:defRPr/>
                </a:pPr>
                <a:r>
                  <a:rPr lang="en-US" sz="1333" b="1" kern="0">
                    <a:solidFill>
                      <a:prstClr val="white"/>
                    </a:solidFill>
                    <a:latin typeface="Arial"/>
                  </a:rPr>
                  <a:t>Secondary Value Proposition</a:t>
                </a:r>
              </a:p>
            </p:txBody>
          </p:sp>
        </p:grpSp>
      </p:grp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E1DC2EF-E0E1-48FF-7D7E-563EC9743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35069"/>
              </p:ext>
            </p:extLst>
          </p:nvPr>
        </p:nvGraphicFramePr>
        <p:xfrm>
          <a:off x="270326" y="3145145"/>
          <a:ext cx="11430000" cy="1737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6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Pharma in AD treatment R&amp;D space and Clinical trial recruiting vendors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6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Scaling the screening</a:t>
                      </a: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of eligible patient population for clinical trials from 20k to 500K+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lower the cost of screening by 80%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Higher </a:t>
                      </a:r>
                      <a:r>
                        <a:rPr kumimoji="1" lang="en-US" sz="16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engagement</a:t>
                      </a: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rate and better patient </a:t>
                      </a:r>
                      <a:r>
                        <a:rPr kumimoji="1" lang="en-US" sz="16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adherence</a:t>
                      </a: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by ~30%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Data analysis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Affordable longitudinal assessment</a:t>
                      </a:r>
                    </a:p>
                    <a:p>
                      <a:pPr marL="171450" marR="0" lvl="0" indent="-171450" algn="l" defTabSz="9143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600" b="0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Enable decentralized data collection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58328CB1-143A-9BDA-6876-E15389E94AF1}"/>
              </a:ext>
            </a:extLst>
          </p:cNvPr>
          <p:cNvSpPr/>
          <p:nvPr/>
        </p:nvSpPr>
        <p:spPr>
          <a:xfrm>
            <a:off x="239532" y="3175978"/>
            <a:ext cx="8637768" cy="166842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0C5186-C9E3-5EBD-935E-D6252E6278BA}"/>
              </a:ext>
            </a:extLst>
          </p:cNvPr>
          <p:cNvSpPr/>
          <p:nvPr/>
        </p:nvSpPr>
        <p:spPr>
          <a:xfrm flipV="1">
            <a:off x="364674" y="6574824"/>
            <a:ext cx="1768432" cy="264124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405E22-E1D1-59E0-02F0-6FA2C7C2B325}"/>
              </a:ext>
            </a:extLst>
          </p:cNvPr>
          <p:cNvSpPr txBox="1"/>
          <p:nvPr/>
        </p:nvSpPr>
        <p:spPr>
          <a:xfrm>
            <a:off x="362590" y="6591503"/>
            <a:ext cx="17684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Our main customer segmentation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B1679-2D77-0E79-C99A-79270C00DB8D}"/>
              </a:ext>
            </a:extLst>
          </p:cNvPr>
          <p:cNvSpPr txBox="1"/>
          <p:nvPr/>
        </p:nvSpPr>
        <p:spPr>
          <a:xfrm>
            <a:off x="304820" y="1678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latin typeface="+mj-lt"/>
              </a:rPr>
              <a:t>Customer Discovery</a:t>
            </a:r>
            <a:endParaRPr lang="en-US" sz="2800" b="1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465193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FF2575-69C0-246C-AA6D-81D900A5A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49" y="1223067"/>
            <a:ext cx="11569700" cy="1916649"/>
          </a:xfrm>
        </p:spPr>
        <p:txBody>
          <a:bodyPr vert="horz" lIns="0" tIns="0" rIns="0" bIns="0" numCol="1" spcCol="126000" rtlCol="0" anchor="t">
            <a:noAutofit/>
          </a:bodyPr>
          <a:lstStyle/>
          <a:p>
            <a:pPr algn="r" fontAlgn="base"/>
            <a:r>
              <a:rPr lang="en-US" sz="2400" i="0" u="none" strike="noStrike">
                <a:effectLst/>
                <a:latin typeface="+mn-lt"/>
                <a:ea typeface="メイリオ"/>
                <a:cs typeface="Calibri"/>
              </a:rPr>
              <a:t>Lack of training on how to communicate</a:t>
            </a:r>
            <a:endParaRPr lang="en-US"/>
          </a:p>
          <a:p>
            <a:pPr algn="r" fontAlgn="base"/>
            <a:r>
              <a:rPr lang="en-US" sz="2400" i="0" u="none" strike="noStrike">
                <a:effectLst/>
                <a:latin typeface="+mn-lt"/>
                <a:ea typeface="メイリオ"/>
                <a:cs typeface="Calibri"/>
              </a:rPr>
              <a:t>life-changing</a:t>
            </a:r>
            <a:r>
              <a:rPr lang="en-US" sz="2400">
                <a:latin typeface="+mn-lt"/>
                <a:ea typeface="メイリオ"/>
                <a:cs typeface="Calibri"/>
              </a:rPr>
              <a:t> </a:t>
            </a:r>
            <a:endParaRPr lang="en-US" sz="2400" i="0" u="none" strike="noStrike">
              <a:effectLst/>
              <a:latin typeface="+mn-lt"/>
              <a:ea typeface="メイリオ"/>
              <a:cs typeface="Calibri"/>
            </a:endParaRPr>
          </a:p>
          <a:p>
            <a:pPr algn="r" fontAlgn="base"/>
            <a:r>
              <a:rPr lang="en-US" sz="2400" i="0" u="none" strike="noStrike">
                <a:effectLst/>
                <a:latin typeface="+mn-lt"/>
                <a:ea typeface="メイリオ"/>
                <a:cs typeface="Calibri"/>
              </a:rPr>
              <a:t>full-time commitment</a:t>
            </a:r>
            <a:r>
              <a:rPr lang="en-US" sz="2400">
                <a:latin typeface="+mn-lt"/>
                <a:ea typeface="メイリオ"/>
                <a:cs typeface="Calibri"/>
              </a:rPr>
              <a:t> </a:t>
            </a:r>
            <a:endParaRPr lang="en-US" sz="2400" i="0" u="none" strike="noStrike">
              <a:effectLst/>
              <a:latin typeface="+mn-lt"/>
              <a:ea typeface="メイリオ"/>
              <a:cs typeface="Calibri"/>
            </a:endParaRPr>
          </a:p>
          <a:p>
            <a:pPr algn="r" fontAlgn="base"/>
            <a:r>
              <a:rPr lang="en-US" sz="2400" i="0" u="none" strike="noStrike">
                <a:effectLst/>
                <a:latin typeface="+mn-lt"/>
                <a:ea typeface="メイリオ"/>
                <a:cs typeface="Calibri"/>
              </a:rPr>
              <a:t>Behavioral disorder: symptoms are unpredictable </a:t>
            </a:r>
          </a:p>
          <a:p>
            <a:pPr algn="r" fontAlgn="base"/>
            <a:r>
              <a:rPr lang="en-US" sz="2400" i="0" u="none" strike="noStrike">
                <a:effectLst/>
                <a:latin typeface="+mn-lt"/>
                <a:ea typeface="メイリオ"/>
                <a:cs typeface="Calibri"/>
              </a:rPr>
              <a:t>Unmeet emotional need</a:t>
            </a:r>
          </a:p>
          <a:p>
            <a:pPr algn="r" fontAlgn="base"/>
            <a:r>
              <a:rPr lang="en-US" sz="2400" i="0" u="none" strike="noStrike">
                <a:effectLst/>
                <a:latin typeface="+mn-lt"/>
                <a:ea typeface="メイリオ"/>
                <a:cs typeface="Calibri"/>
              </a:rPr>
              <a:t>Caregiver burnout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8B740-1240-5D00-F9DF-133185D41A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49" y="3331561"/>
            <a:ext cx="5708650" cy="272786"/>
          </a:xfrm>
        </p:spPr>
        <p:txBody>
          <a:bodyPr/>
          <a:lstStyle/>
          <a:p>
            <a:r>
              <a:rPr lang="en-US" sz="2800"/>
              <a:t>Next step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BBA3A-1747-5B92-52ED-A0F4A95408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3315" y="3683042"/>
            <a:ext cx="10778191" cy="2840771"/>
          </a:xfrm>
        </p:spPr>
        <p:txBody>
          <a:bodyPr vert="horz" lIns="0" tIns="0" rIns="0" bIns="0" numCol="1" rtlCol="0" anchor="ctr">
            <a:noAutofit/>
          </a:bodyPr>
          <a:lstStyle/>
          <a:p>
            <a:pPr fontAlgn="base"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Primary research</a:t>
            </a:r>
          </a:p>
          <a:p>
            <a:pPr>
              <a:spcAft>
                <a:spcPts val="0"/>
              </a:spcAft>
            </a:pPr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Secondary research</a:t>
            </a:r>
          </a:p>
          <a:p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Business model</a:t>
            </a:r>
          </a:p>
          <a:p>
            <a:pPr marL="742950" lvl="1" indent="-285750" fontAlgn="base">
              <a:lnSpc>
                <a:spcPct val="100000"/>
              </a:lnSpc>
              <a:buChar char="•"/>
            </a:pPr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Reimbursement</a:t>
            </a:r>
          </a:p>
          <a:p>
            <a:pPr marL="74295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2000" b="1" i="0" u="none" strike="noStrike">
                <a:solidFill>
                  <a:srgbClr val="000000"/>
                </a:solidFill>
                <a:effectLst/>
                <a:latin typeface="+mj-lt"/>
                <a:ea typeface="メイリオ"/>
                <a:cs typeface="Calibri"/>
              </a:rPr>
              <a:t>Clinical Trial for the technology</a:t>
            </a:r>
            <a:endParaRPr lang="en-US" sz="2000">
              <a:ea typeface="メイリオ"/>
              <a:cs typeface="Calibri"/>
            </a:endParaRPr>
          </a:p>
          <a:p>
            <a:pPr marL="742950" lvl="1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Address potential ethical </a:t>
            </a:r>
            <a:r>
              <a:rPr lang="en-US" sz="2000" b="1" i="0" u="none" strike="noStrike">
                <a:solidFill>
                  <a:srgbClr val="000000"/>
                </a:solidFill>
                <a:effectLst/>
                <a:latin typeface="+mj-lt"/>
                <a:ea typeface="メイリオ"/>
                <a:cs typeface="Calibri"/>
              </a:rPr>
              <a:t>issues</a:t>
            </a:r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 </a:t>
            </a:r>
            <a:endParaRPr lang="en-US" sz="2000" b="1" i="0" u="none" strike="noStrike">
              <a:solidFill>
                <a:srgbClr val="000000"/>
              </a:solidFill>
              <a:effectLst/>
              <a:latin typeface="+mj-lt"/>
              <a:ea typeface="メイリオ"/>
              <a:cs typeface="Calibri"/>
            </a:endParaRPr>
          </a:p>
          <a:p>
            <a:pPr marL="742950" lvl="1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i="0" u="none" strike="noStrike">
                <a:solidFill>
                  <a:srgbClr val="000000"/>
                </a:solidFill>
                <a:effectLst/>
                <a:latin typeface="+mj-lt"/>
                <a:ea typeface="メイリオ"/>
                <a:cs typeface="Calibri"/>
              </a:rPr>
              <a:t>Validating the technology with gold standard screening for Alzheimer</a:t>
            </a:r>
            <a:r>
              <a:rPr lang="en-US" sz="2000" b="1">
                <a:solidFill>
                  <a:srgbClr val="000000"/>
                </a:solidFill>
                <a:latin typeface="+mj-lt"/>
                <a:ea typeface="メイリオ"/>
                <a:cs typeface="Calibri"/>
              </a:rPr>
              <a:t> </a:t>
            </a:r>
            <a:endParaRPr lang="en-US" sz="2000" b="1" i="0" u="none" strike="noStrike">
              <a:solidFill>
                <a:srgbClr val="000000"/>
              </a:solidFill>
              <a:effectLst/>
              <a:latin typeface="+mj-lt"/>
            </a:endParaRP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0B7795-2EAB-BD06-4152-DB383530DF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46331" y="742285"/>
            <a:ext cx="11569700" cy="272786"/>
          </a:xfrm>
        </p:spPr>
        <p:txBody>
          <a:bodyPr/>
          <a:lstStyle/>
          <a:p>
            <a:r>
              <a:rPr lang="en-US" sz="2800"/>
              <a:t>Lessons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1DD99E2-9D57-8FD2-BCE3-8624B301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 lessons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1A0C6B-2F2B-F004-F5A4-848F5820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1127612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021156-F368-D547-AC64-C8467A339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84" y="2755876"/>
            <a:ext cx="4354731" cy="2299792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r>
              <a:rPr lang="en-GB" sz="4000"/>
              <a:t>Thank you</a:t>
            </a:r>
            <a:br>
              <a:rPr lang="en-GB" sz="2800" b="0"/>
            </a:br>
            <a:endParaRPr lang="en-JP" sz="18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heme/theme1.xml><?xml version="1.0" encoding="utf-8"?>
<a:theme xmlns:a="http://schemas.openxmlformats.org/drawingml/2006/main" name="Takeda Slide Master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none"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VocAL final presentation" id="{AC9B47D5-26EB-1C44-9C61-6F0AD5EBB1F8}" vid="{FDB6C6DB-6019-7B42-9051-C754056CEB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788AB4271D2F4B82540158621652FA" ma:contentTypeVersion="13" ma:contentTypeDescription="Create a new document." ma:contentTypeScope="" ma:versionID="841054a330d1441e23e9b56358b486a2">
  <xsd:schema xmlns:xsd="http://www.w3.org/2001/XMLSchema" xmlns:xs="http://www.w3.org/2001/XMLSchema" xmlns:p="http://schemas.microsoft.com/office/2006/metadata/properties" xmlns:ns3="c35d9128-0199-448a-8954-7c37adaffeb5" xmlns:ns4="a6f08481-6c03-4d4f-8c55-15386435109c" targetNamespace="http://schemas.microsoft.com/office/2006/metadata/properties" ma:root="true" ma:fieldsID="2d0b0b793b54908d3c23faa78937d367" ns3:_="" ns4:_="">
    <xsd:import namespace="c35d9128-0199-448a-8954-7c37adaffeb5"/>
    <xsd:import namespace="a6f08481-6c03-4d4f-8c55-1538643510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5d9128-0199-448a-8954-7c37adaffe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f08481-6c03-4d4f-8c55-15386435109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C3BB52-6112-4A90-B1AF-BB2849B505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64AA88-9994-4773-9B46-6F25641ADC01}">
  <ds:schemaRefs>
    <ds:schemaRef ds:uri="a6f08481-6c03-4d4f-8c55-15386435109c"/>
    <ds:schemaRef ds:uri="c35d9128-0199-448a-8954-7c37adaffe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19292C-02CA-454B-826A-C373CCBD4BE5}">
  <ds:schemaRefs>
    <ds:schemaRef ds:uri="a6f08481-6c03-4d4f-8c55-15386435109c"/>
    <ds:schemaRef ds:uri="c35d9128-0199-448a-8954-7c37adaffe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Takeda Slide Master</vt:lpstr>
      <vt:lpstr>VocAL Voice Biomarker for AD Progression Assessment  MIT Sandbox| Dhive_ 2023 Summer</vt:lpstr>
      <vt:lpstr>PowerPoint Presentation</vt:lpstr>
      <vt:lpstr>Team</vt:lpstr>
      <vt:lpstr>Current process of screening, diagnosis, and progression monitoring </vt:lpstr>
      <vt:lpstr>Proposed Solution</vt:lpstr>
      <vt:lpstr>PowerPoint Presentation</vt:lpstr>
      <vt:lpstr>Our interviews</vt:lpstr>
      <vt:lpstr>Key Learnings from top 3 Interviews </vt:lpstr>
      <vt:lpstr>Key Learnings from top 3 Interviews </vt:lpstr>
      <vt:lpstr>Key Learnings from top 3 Interviews </vt:lpstr>
      <vt:lpstr>Problem and Unmet Need</vt:lpstr>
      <vt:lpstr>Our primary customer: Pharmaceutical companies in AD R&amp;D with the value of scaling &amp; accelerating eligible patient screening </vt:lpstr>
      <vt:lpstr>Personal lessons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Takeda  PowerPoint Template</dc:title>
  <dc:subject/>
  <dc:creator>Petrakis, Ioannis</dc:creator>
  <cp:keywords/>
  <dc:description/>
  <cp:revision>261</cp:revision>
  <cp:lastPrinted>2023-07-24T04:48:57Z</cp:lastPrinted>
  <dcterms:created xsi:type="dcterms:W3CDTF">2023-03-29T12:38:26Z</dcterms:created>
  <dcterms:modified xsi:type="dcterms:W3CDTF">2023-07-24T21:11:55Z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0x0101006E788AB4271D2F4B82540158621652FA</vt:lpwstr>
  </property>
</Properties>
</file>